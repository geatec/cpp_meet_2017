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505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8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17" name="Ondertitel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nl-NL" smtClean="0"/>
              <a:t>Klik om het opmaakprofiel van de modelondertitel te bewerken</a:t>
            </a:r>
            <a:endParaRPr kumimoji="0" lang="en-US"/>
          </a:p>
        </p:txBody>
      </p:sp>
      <p:sp>
        <p:nvSpPr>
          <p:cNvPr id="30" name="Tijdelijke aanduiding voor datum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19" name="Tijdelijke aanduiding voor voettekst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7" name="Tijdelijke aanduiding voor dianumm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met één afgeknipte en afgeronde hoek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hoekige driehoek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nl-NL" smtClean="0"/>
              <a:t>Klik op het pictogram als u een afbeelding wilt toevoegen</a:t>
            </a:r>
            <a:endParaRPr kumimoji="0" lang="en-US" dirty="0"/>
          </a:p>
        </p:txBody>
      </p:sp>
      <p:sp>
        <p:nvSpPr>
          <p:cNvPr id="10" name="Vrije v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Vrije v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nl-NL" smtClean="0"/>
              <a:t>Klik om de modelstijlen te bewerken</a:t>
            </a:r>
          </a:p>
          <a:p>
            <a:pPr lvl="1" eaLnBrk="1" latinLnBrk="0" hangingPunct="1"/>
            <a:r>
              <a:rPr lang="nl-NL" smtClean="0"/>
              <a:t>Tweede niveau</a:t>
            </a:r>
          </a:p>
          <a:p>
            <a:pPr lvl="2" eaLnBrk="1" latinLnBrk="0" hangingPunct="1"/>
            <a:r>
              <a:rPr lang="nl-NL" smtClean="0"/>
              <a:t>Derde niveau</a:t>
            </a:r>
          </a:p>
          <a:p>
            <a:pPr lvl="3" eaLnBrk="1" latinLnBrk="0" hangingPunct="1"/>
            <a:r>
              <a:rPr lang="nl-NL" smtClean="0"/>
              <a:t>Vierde niveau</a:t>
            </a:r>
          </a:p>
          <a:p>
            <a:pPr lvl="4" eaLnBrk="1" latinLnBrk="0" hangingPunct="1"/>
            <a:r>
              <a:rPr lang="nl-NL" smtClean="0"/>
              <a:t>Vijfde niveau</a:t>
            </a:r>
            <a:endParaRPr kumimoji="0"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Vrije v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Vrije v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jdelijke aanduiding voor titel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nl-NL" smtClean="0"/>
              <a:t>Klik om de stijl te bewerken</a:t>
            </a:r>
            <a:endParaRPr kumimoji="0" lang="en-US"/>
          </a:p>
        </p:txBody>
      </p:sp>
      <p:sp>
        <p:nvSpPr>
          <p:cNvPr id="30" name="Tijdelijke aanduiding voor tekst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nl-NL" smtClean="0"/>
              <a:t>Klik om de modelstijlen te bewerken</a:t>
            </a:r>
          </a:p>
          <a:p>
            <a:pPr lvl="1" eaLnBrk="1" latinLnBrk="0" hangingPunct="1"/>
            <a:r>
              <a:rPr kumimoji="0" lang="nl-NL" smtClean="0"/>
              <a:t>Tweede niveau</a:t>
            </a:r>
          </a:p>
          <a:p>
            <a:pPr lvl="2" eaLnBrk="1" latinLnBrk="0" hangingPunct="1"/>
            <a:r>
              <a:rPr kumimoji="0" lang="nl-NL" smtClean="0"/>
              <a:t>Derde niveau</a:t>
            </a:r>
          </a:p>
          <a:p>
            <a:pPr lvl="3" eaLnBrk="1" latinLnBrk="0" hangingPunct="1"/>
            <a:r>
              <a:rPr kumimoji="0" lang="nl-NL" smtClean="0"/>
              <a:t>Vierde niveau</a:t>
            </a:r>
          </a:p>
          <a:p>
            <a:pPr lvl="4" eaLnBrk="1" latinLnBrk="0" hangingPunct="1"/>
            <a:r>
              <a:rPr kumimoji="0" lang="nl-NL" smtClean="0"/>
              <a:t>Vijfde niveau</a:t>
            </a:r>
            <a:endParaRPr kumimoji="0" lang="en-US"/>
          </a:p>
        </p:txBody>
      </p:sp>
      <p:sp>
        <p:nvSpPr>
          <p:cNvPr id="10" name="Tijdelijke aanduiding voor datum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638F0FA-503B-447F-A02E-6BF1D880434F}" type="datetimeFigureOut">
              <a:rPr lang="nl-NL" smtClean="0"/>
              <a:pPr/>
              <a:t>20-1-2018</a:t>
            </a:fld>
            <a:endParaRPr lang="nl-NL"/>
          </a:p>
        </p:txBody>
      </p:sp>
      <p:sp>
        <p:nvSpPr>
          <p:cNvPr id="22" name="Tijdelijke aanduiding voor voettekst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18" name="Tijdelijke aanduiding voor dianumm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C3EE7185-A582-4542-8FF0-969B3F80C0A5}" type="slidenum">
              <a:rPr lang="nl-NL" smtClean="0"/>
              <a:pPr/>
              <a:t>‹nr.›</a:t>
            </a:fld>
            <a:endParaRPr lang="nl-NL"/>
          </a:p>
        </p:txBody>
      </p:sp>
      <p:grpSp>
        <p:nvGrpSpPr>
          <p:cNvPr id="2" name="Groe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Vrije v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Vrije v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620688"/>
            <a:ext cx="8208912" cy="61237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kstvak 6"/>
          <p:cNvSpPr txBox="1"/>
          <p:nvPr/>
        </p:nvSpPr>
        <p:spPr>
          <a:xfrm>
            <a:off x="467544" y="332656"/>
            <a:ext cx="8208912" cy="52322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2800" smtClean="0">
                <a:solidFill>
                  <a:srgbClr val="002060"/>
                </a:solidFill>
                <a:latin typeface="+mj-lt"/>
              </a:rPr>
              <a:t>      Refactoring </a:t>
            </a:r>
            <a:r>
              <a:rPr lang="en-US" sz="2800" smtClean="0">
                <a:solidFill>
                  <a:srgbClr val="002060"/>
                </a:solidFill>
                <a:latin typeface="+mj-lt"/>
              </a:rPr>
              <a:t>30 years x 20 devs worth of C++ </a:t>
            </a:r>
            <a:r>
              <a:rPr lang="en-US" sz="2800" smtClean="0">
                <a:solidFill>
                  <a:srgbClr val="002060"/>
                </a:solidFill>
                <a:latin typeface="+mj-lt"/>
              </a:rPr>
              <a:t>code    </a:t>
            </a:r>
            <a:endParaRPr lang="en-US" sz="2800">
              <a:solidFill>
                <a:srgbClr val="00206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80728"/>
          </a:xfrm>
        </p:spPr>
        <p:txBody>
          <a:bodyPr/>
          <a:lstStyle/>
          <a:p>
            <a:r>
              <a:rPr lang="en-US" smtClean="0"/>
              <a:t>Company: Jason Geosystems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1484784"/>
            <a:ext cx="8229600" cy="489776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mtClean="0"/>
              <a:t>Founded in 1986</a:t>
            </a:r>
          </a:p>
          <a:p>
            <a:pPr>
              <a:buNone/>
            </a:pPr>
            <a:endParaRPr lang="en-US" smtClean="0"/>
          </a:p>
          <a:p>
            <a:r>
              <a:rPr lang="en-US" smtClean="0"/>
              <a:t>3 management / staff</a:t>
            </a:r>
          </a:p>
          <a:p>
            <a:r>
              <a:rPr lang="en-US" smtClean="0">
                <a:solidFill>
                  <a:srgbClr val="FF0000"/>
                </a:solidFill>
              </a:rPr>
              <a:t>2 mathematicians</a:t>
            </a:r>
          </a:p>
          <a:p>
            <a:r>
              <a:rPr lang="en-US" smtClean="0"/>
              <a:t>20 developers all based in NL</a:t>
            </a:r>
          </a:p>
          <a:p>
            <a:r>
              <a:rPr lang="en-US" smtClean="0"/>
              <a:t>100 consultants stationed worldwide</a:t>
            </a:r>
          </a:p>
          <a:p>
            <a:r>
              <a:rPr lang="en-US" smtClean="0"/>
              <a:t>100 M$ market value</a:t>
            </a:r>
          </a:p>
          <a:p>
            <a:pPr>
              <a:buNone/>
            </a:pPr>
            <a:endParaRPr lang="en-US" smtClean="0"/>
          </a:p>
          <a:p>
            <a:pPr>
              <a:buNone/>
            </a:pPr>
            <a:r>
              <a:rPr lang="en-US" smtClean="0">
                <a:solidFill>
                  <a:srgbClr val="002060"/>
                </a:solidFill>
              </a:rPr>
              <a:t>Sources of income:</a:t>
            </a:r>
          </a:p>
          <a:p>
            <a:pPr marL="514350" indent="-514350">
              <a:buAutoNum type="arabicPeriod"/>
            </a:pPr>
            <a:r>
              <a:rPr lang="en-US" smtClean="0">
                <a:solidFill>
                  <a:srgbClr val="002060"/>
                </a:solidFill>
              </a:rPr>
              <a:t>Consultancy using own software</a:t>
            </a:r>
          </a:p>
          <a:p>
            <a:pPr marL="514350" indent="-514350">
              <a:buAutoNum type="arabicPeriod"/>
            </a:pPr>
            <a:r>
              <a:rPr lang="en-US" smtClean="0">
                <a:solidFill>
                  <a:srgbClr val="002060"/>
                </a:solidFill>
              </a:rPr>
              <a:t> Licences</a:t>
            </a:r>
          </a:p>
          <a:p>
            <a:pPr marL="514350" indent="-514350">
              <a:buNone/>
            </a:pPr>
            <a:endParaRPr lang="en-US" smtClean="0">
              <a:solidFill>
                <a:srgbClr val="002060"/>
              </a:solidFill>
            </a:endParaRPr>
          </a:p>
          <a:p>
            <a:pPr marL="514350" indent="-514350">
              <a:buNone/>
            </a:pPr>
            <a:r>
              <a:rPr lang="en-US" smtClean="0">
                <a:solidFill>
                  <a:srgbClr val="002060"/>
                </a:solidFill>
              </a:rPr>
              <a:t>Customers: multinational oil companies</a:t>
            </a:r>
          </a:p>
          <a:p>
            <a:pPr marL="514350" indent="-514350">
              <a:buAutoNum type="arabicPeriod"/>
            </a:pPr>
            <a:endParaRPr lang="en-US" smtClean="0"/>
          </a:p>
        </p:txBody>
      </p:sp>
      <p:pic>
        <p:nvPicPr>
          <p:cNvPr id="14338" name="Picture 2" descr="Image result for mathematic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16216" y="1916832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864096"/>
          </a:xfrm>
        </p:spPr>
        <p:txBody>
          <a:bodyPr>
            <a:normAutofit/>
          </a:bodyPr>
          <a:lstStyle/>
          <a:p>
            <a:r>
              <a:rPr lang="en-US" smtClean="0"/>
              <a:t>Software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3528" y="1268760"/>
            <a:ext cx="8640960" cy="5328592"/>
          </a:xfrm>
        </p:spPr>
        <p:txBody>
          <a:bodyPr>
            <a:normAutofit fontScale="77500" lnSpcReduction="20000"/>
          </a:bodyPr>
          <a:lstStyle/>
          <a:p>
            <a:r>
              <a:rPr lang="en-US" smtClean="0"/>
              <a:t>JGW: 22 cooperating geoscience apps, all written in C++</a:t>
            </a:r>
          </a:p>
          <a:p>
            <a:r>
              <a:rPr lang="en-US" smtClean="0"/>
              <a:t>300 person years</a:t>
            </a:r>
          </a:p>
          <a:p>
            <a:r>
              <a:rPr lang="en-US" smtClean="0"/>
              <a:t>8 MB </a:t>
            </a:r>
            <a:r>
              <a:rPr lang="en-US" smtClean="0"/>
              <a:t>sourcecode</a:t>
            </a:r>
            <a:endParaRPr lang="en-US" smtClean="0"/>
          </a:p>
          <a:p>
            <a:r>
              <a:rPr lang="en-US" smtClean="0"/>
              <a:t>10 hours overnight integration + autotest</a:t>
            </a:r>
          </a:p>
          <a:p>
            <a:r>
              <a:rPr lang="en-US" smtClean="0"/>
              <a:t>O (100 TB) + seismic data per field pre-stack</a:t>
            </a:r>
          </a:p>
          <a:p>
            <a:r>
              <a:rPr lang="en-US" smtClean="0"/>
              <a:t>Unix / Solaris / Windows, accent on Linux</a:t>
            </a:r>
          </a:p>
          <a:p>
            <a:r>
              <a:rPr lang="en-US" smtClean="0"/>
              <a:t>Human interfacing:  command line / scripted / GUI / VR</a:t>
            </a:r>
          </a:p>
          <a:p>
            <a:pPr>
              <a:buNone/>
            </a:pPr>
            <a:endParaRPr lang="en-US" smtClean="0"/>
          </a:p>
          <a:p>
            <a:pPr>
              <a:buNone/>
            </a:pPr>
            <a:r>
              <a:rPr lang="en-US" sz="3100" smtClean="0">
                <a:solidFill>
                  <a:srgbClr val="FF0000"/>
                </a:solidFill>
              </a:rPr>
              <a:t>C++ “layers”: 1986 pre-ARM -&gt; 2018 post ISO/IEC 2017</a:t>
            </a:r>
          </a:p>
          <a:p>
            <a:pPr>
              <a:buNone/>
            </a:pPr>
            <a:endParaRPr lang="en-US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mtClean="0">
                <a:solidFill>
                  <a:srgbClr val="002060"/>
                </a:solidFill>
              </a:rPr>
              <a:t>Programming styles:</a:t>
            </a:r>
          </a:p>
          <a:p>
            <a:pPr>
              <a:buNone/>
            </a:pPr>
            <a:r>
              <a:rPr lang="en-US" smtClean="0">
                <a:solidFill>
                  <a:srgbClr val="002060"/>
                </a:solidFill>
              </a:rPr>
              <a:t>From :	Fortran IV BLAS/LAPAC (goto’s with numerical labels)</a:t>
            </a:r>
          </a:p>
          <a:p>
            <a:pPr>
              <a:buNone/>
            </a:pPr>
            <a:r>
              <a:rPr lang="en-US" smtClean="0">
                <a:solidFill>
                  <a:srgbClr val="002060"/>
                </a:solidFill>
              </a:rPr>
              <a:t>Via:	Mainstream OO (encaps., inherit., polymorph.)</a:t>
            </a:r>
          </a:p>
          <a:p>
            <a:pPr>
              <a:buNone/>
            </a:pPr>
            <a:r>
              <a:rPr lang="en-US" smtClean="0">
                <a:solidFill>
                  <a:srgbClr val="002060"/>
                </a:solidFill>
              </a:rPr>
              <a:t>To:	Template metaprogramming</a:t>
            </a:r>
          </a:p>
          <a:p>
            <a:pPr>
              <a:buNone/>
            </a:pPr>
            <a:endParaRPr lang="en-US" smtClean="0">
              <a:solidFill>
                <a:srgbClr val="002060"/>
              </a:solidFill>
            </a:endParaRPr>
          </a:p>
          <a:p>
            <a:pPr>
              <a:buNone/>
            </a:pPr>
            <a:r>
              <a:rPr lang="en-US" smtClean="0">
                <a:solidFill>
                  <a:srgbClr val="002060"/>
                </a:solidFill>
              </a:rPr>
              <a:t>Dev. experience: 1 month -&gt; 29+ years on the same </a:t>
            </a:r>
            <a:r>
              <a:rPr lang="en-US" smtClean="0">
                <a:solidFill>
                  <a:srgbClr val="002060"/>
                </a:solidFill>
              </a:rPr>
              <a:t>package</a:t>
            </a:r>
          </a:p>
          <a:p>
            <a:pPr>
              <a:buNone/>
            </a:pPr>
            <a:r>
              <a:rPr lang="en-US" b="1" u="sng" smtClean="0">
                <a:solidFill>
                  <a:srgbClr val="002060"/>
                </a:solidFill>
              </a:rPr>
              <a:t>Permanent hunt for experienced dev’s</a:t>
            </a:r>
            <a:endParaRPr lang="en-US" b="1" u="sng" smtClean="0">
              <a:solidFill>
                <a:srgbClr val="002060"/>
              </a:solidFill>
            </a:endParaRPr>
          </a:p>
          <a:p>
            <a:pPr>
              <a:buNone/>
            </a:pPr>
            <a:endParaRPr lang="en-US" smtClean="0"/>
          </a:p>
        </p:txBody>
      </p:sp>
      <p:pic>
        <p:nvPicPr>
          <p:cNvPr id="13314" name="Picture 2" descr="Image result for source cod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20272" y="1340768"/>
            <a:ext cx="1982791" cy="201622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620688"/>
          </a:xfrm>
        </p:spPr>
        <p:txBody>
          <a:bodyPr>
            <a:normAutofit fontScale="90000"/>
          </a:bodyPr>
          <a:lstStyle/>
          <a:p>
            <a:r>
              <a:rPr lang="en-US" smtClean="0"/>
              <a:t>Problems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07504" y="764704"/>
            <a:ext cx="8604448" cy="5949280"/>
          </a:xfrm>
        </p:spPr>
        <p:txBody>
          <a:bodyPr>
            <a:normAutofit fontScale="70000" lnSpcReduction="20000"/>
          </a:bodyPr>
          <a:lstStyle/>
          <a:p>
            <a:r>
              <a:rPr lang="en-US" sz="2900" smtClean="0"/>
              <a:t>New competitors move faster and look better, using new technologies</a:t>
            </a:r>
          </a:p>
          <a:p>
            <a:r>
              <a:rPr lang="en-US" sz="2900" smtClean="0"/>
              <a:t>Even simple changes take more and more time</a:t>
            </a:r>
          </a:p>
          <a:p>
            <a:r>
              <a:rPr lang="en-US" sz="2900" smtClean="0"/>
              <a:t>Each change seems to break something completely unrelated</a:t>
            </a:r>
          </a:p>
          <a:p>
            <a:endParaRPr lang="en-US" sz="2900" smtClean="0"/>
          </a:p>
          <a:p>
            <a:r>
              <a:rPr lang="en-US" sz="2900" smtClean="0"/>
              <a:t>Apps lack synergy, common datastructures, common look and feel</a:t>
            </a:r>
          </a:p>
          <a:p>
            <a:r>
              <a:rPr lang="en-US" sz="2900" smtClean="0"/>
              <a:t>Typical “postdoc” matlab-style algorithmic </a:t>
            </a:r>
            <a:r>
              <a:rPr lang="en-US" sz="2900" smtClean="0"/>
              <a:t>code with one letter variables</a:t>
            </a:r>
            <a:endParaRPr lang="en-US" sz="2900" smtClean="0"/>
          </a:p>
          <a:p>
            <a:r>
              <a:rPr lang="en-US" sz="2900" smtClean="0"/>
              <a:t>Developers each </a:t>
            </a:r>
            <a:r>
              <a:rPr lang="en-US" sz="2900" smtClean="0"/>
              <a:t>on</a:t>
            </a:r>
            <a:r>
              <a:rPr lang="en-US" sz="2900" smtClean="0"/>
              <a:t> </a:t>
            </a:r>
            <a:r>
              <a:rPr lang="en-US" sz="2900" smtClean="0"/>
              <a:t>their own island</a:t>
            </a:r>
          </a:p>
          <a:p>
            <a:r>
              <a:rPr lang="en-US" sz="2900" smtClean="0"/>
              <a:t>No overall design</a:t>
            </a:r>
          </a:p>
          <a:p>
            <a:r>
              <a:rPr lang="en-US" sz="2900" smtClean="0"/>
              <a:t>No data lineage management, just hundreds of files with long names</a:t>
            </a:r>
          </a:p>
          <a:p>
            <a:endParaRPr lang="en-US" sz="2900" smtClean="0"/>
          </a:p>
          <a:p>
            <a:r>
              <a:rPr lang="en-US" sz="2900" smtClean="0"/>
              <a:t>Internal incompatibilities, e.g.</a:t>
            </a:r>
          </a:p>
          <a:p>
            <a:pPr lvl="1"/>
            <a:r>
              <a:rPr lang="en-US" sz="2600" smtClean="0"/>
              <a:t>Pre-STL vs. STL </a:t>
            </a:r>
            <a:r>
              <a:rPr lang="en-US" sz="2600" smtClean="0"/>
              <a:t>containers</a:t>
            </a:r>
            <a:endParaRPr lang="en-US" sz="2600" smtClean="0"/>
          </a:p>
          <a:p>
            <a:pPr lvl="1"/>
            <a:r>
              <a:rPr lang="en-US" sz="2600" smtClean="0"/>
              <a:t>Polymorphic vs. template based fixed type datastructures</a:t>
            </a:r>
          </a:p>
          <a:p>
            <a:pPr lvl="1"/>
            <a:r>
              <a:rPr lang="en-US" sz="2600" smtClean="0"/>
              <a:t>Fortran order vs. C order array </a:t>
            </a:r>
            <a:r>
              <a:rPr lang="en-US" sz="2600" smtClean="0"/>
              <a:t>storage</a:t>
            </a:r>
            <a:endParaRPr lang="en-US" sz="2600" smtClean="0"/>
          </a:p>
          <a:p>
            <a:pPr lvl="1"/>
            <a:r>
              <a:rPr lang="en-US" sz="2600" smtClean="0"/>
              <a:t>Big-endian vs. little-endian number storage</a:t>
            </a:r>
          </a:p>
          <a:p>
            <a:pPr lvl="1"/>
            <a:r>
              <a:rPr lang="en-US" sz="2600" smtClean="0"/>
              <a:t>Compiler and platform differences (all autotests 3 x)</a:t>
            </a:r>
          </a:p>
          <a:p>
            <a:pPr lvl="1">
              <a:buNone/>
            </a:pPr>
            <a:endParaRPr lang="en-US" sz="2600" smtClean="0"/>
          </a:p>
          <a:p>
            <a:r>
              <a:rPr lang="en-US" sz="2900" smtClean="0"/>
              <a:t>Effectively frozen: It works! Please don’t touch it!</a:t>
            </a:r>
          </a:p>
          <a:p>
            <a:r>
              <a:rPr lang="en-US" sz="2900" smtClean="0"/>
              <a:t>Courage lost: </a:t>
            </a:r>
            <a:r>
              <a:rPr lang="en-US" sz="2900" smtClean="0"/>
              <a:t>          </a:t>
            </a:r>
            <a:r>
              <a:rPr lang="en-US" sz="3800" b="1" smtClean="0">
                <a:solidFill>
                  <a:srgbClr val="FF0000"/>
                </a:solidFill>
              </a:rPr>
              <a:t>NO</a:t>
            </a:r>
            <a:r>
              <a:rPr lang="en-US" sz="3800" b="1" smtClean="0">
                <a:solidFill>
                  <a:srgbClr val="FF0000"/>
                </a:solidFill>
              </a:rPr>
              <a:t>, WE CAN’T</a:t>
            </a:r>
            <a:endParaRPr lang="en-US" smtClean="0">
              <a:solidFill>
                <a:srgbClr val="FF0000"/>
              </a:solidFill>
            </a:endParaRPr>
          </a:p>
        </p:txBody>
      </p:sp>
      <p:pic>
        <p:nvPicPr>
          <p:cNvPr id="12296" name="Picture 8" descr="Image result for moedeloo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4797152"/>
            <a:ext cx="2400300" cy="1905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oto van Wellington City Council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763190"/>
            <a:ext cx="8784976" cy="6094810"/>
          </a:xfrm>
          <a:prstGeom prst="rect">
            <a:avLst/>
          </a:prstGeom>
          <a:noFill/>
        </p:spPr>
      </p:pic>
      <p:sp>
        <p:nvSpPr>
          <p:cNvPr id="3" name="Tekstvak 2"/>
          <p:cNvSpPr txBox="1"/>
          <p:nvPr/>
        </p:nvSpPr>
        <p:spPr>
          <a:xfrm>
            <a:off x="6588224" y="6165304"/>
            <a:ext cx="1440160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mtClean="0"/>
              <a:t>Algorithms</a:t>
            </a:r>
            <a:endParaRPr lang="en-US"/>
          </a:p>
        </p:txBody>
      </p:sp>
      <p:sp>
        <p:nvSpPr>
          <p:cNvPr id="4" name="Tekstvak 3"/>
          <p:cNvSpPr txBox="1"/>
          <p:nvPr/>
        </p:nvSpPr>
        <p:spPr>
          <a:xfrm>
            <a:off x="3491880" y="3212976"/>
            <a:ext cx="1573508" cy="369332"/>
          </a:xfrm>
          <a:prstGeom prst="rect">
            <a:avLst/>
          </a:prstGeom>
          <a:solidFill>
            <a:srgbClr val="FF5050"/>
          </a:solidFill>
        </p:spPr>
        <p:txBody>
          <a:bodyPr wrap="none" rtlCol="0">
            <a:spAutoFit/>
          </a:bodyPr>
          <a:lstStyle/>
          <a:p>
            <a:r>
              <a:rPr lang="en-US" smtClean="0"/>
              <a:t>Infrastructure</a:t>
            </a:r>
            <a:endParaRPr lang="en-US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395536" y="0"/>
            <a:ext cx="8280920" cy="792088"/>
          </a:xfrm>
          <a:prstGeom prst="rect">
            <a:avLst/>
          </a:prstGeom>
        </p:spPr>
        <p:txBody>
          <a:bodyPr>
            <a:normAutofit fontScale="97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00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Balls OK, new tree needed</a:t>
            </a:r>
            <a:endParaRPr kumimoji="0" lang="en-US" sz="50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67944" y="764704"/>
            <a:ext cx="1728192" cy="720080"/>
          </a:xfrm>
        </p:spPr>
        <p:txBody>
          <a:bodyPr>
            <a:normAutofit fontScale="90000"/>
          </a:bodyPr>
          <a:lstStyle/>
          <a:p>
            <a:r>
              <a:rPr lang="en-US" smtClean="0">
                <a:solidFill>
                  <a:srgbClr val="FF0000"/>
                </a:solidFill>
              </a:rPr>
              <a:t>HOW?</a:t>
            </a:r>
            <a:endParaRPr lang="en-US">
              <a:solidFill>
                <a:srgbClr val="FF0000"/>
              </a:solidFill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1419225"/>
            <a:ext cx="3143250" cy="543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36712"/>
            <a:ext cx="3024336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 descr="French Blue and Linen 60-pc. Ornament Collection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27784" y="2276872"/>
            <a:ext cx="3672408" cy="3672409"/>
          </a:xfrm>
          <a:prstGeom prst="rect">
            <a:avLst/>
          </a:prstGeom>
          <a:noFill/>
        </p:spPr>
      </p:pic>
      <p:cxnSp>
        <p:nvCxnSpPr>
          <p:cNvPr id="11" name="Rechte verbindingslijn met pijl 10"/>
          <p:cNvCxnSpPr/>
          <p:nvPr/>
        </p:nvCxnSpPr>
        <p:spPr>
          <a:xfrm>
            <a:off x="1691680" y="2564904"/>
            <a:ext cx="5976664" cy="2736304"/>
          </a:xfrm>
          <a:prstGeom prst="curvedConnector3">
            <a:avLst>
              <a:gd name="adj1" fmla="val 50000"/>
            </a:avLst>
          </a:prstGeom>
          <a:ln w="730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908720"/>
          </a:xfrm>
        </p:spPr>
        <p:txBody>
          <a:bodyPr>
            <a:normAutofit fontScale="90000"/>
          </a:bodyPr>
          <a:lstStyle/>
          <a:p>
            <a:r>
              <a:rPr lang="en-US" smtClean="0"/>
              <a:t>DQI (Design Quality Improvement)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5328592"/>
          </a:xfrm>
        </p:spPr>
        <p:txBody>
          <a:bodyPr>
            <a:normAutofit/>
          </a:bodyPr>
          <a:lstStyle/>
          <a:p>
            <a:r>
              <a:rPr lang="en-US" smtClean="0"/>
              <a:t>No big bang. </a:t>
            </a:r>
            <a:r>
              <a:rPr lang="en-US" u="sng" smtClean="0">
                <a:solidFill>
                  <a:srgbClr val="FF0000"/>
                </a:solidFill>
              </a:rPr>
              <a:t>E</a:t>
            </a:r>
            <a:r>
              <a:rPr lang="en-US" u="sng" smtClean="0">
                <a:solidFill>
                  <a:srgbClr val="FF0000"/>
                </a:solidFill>
              </a:rPr>
              <a:t>volutionary</a:t>
            </a:r>
            <a:r>
              <a:rPr lang="en-US" smtClean="0"/>
              <a:t> </a:t>
            </a:r>
            <a:r>
              <a:rPr lang="en-US" smtClean="0"/>
              <a:t>functional improvements grouped into </a:t>
            </a:r>
            <a:r>
              <a:rPr lang="en-US" smtClean="0">
                <a:solidFill>
                  <a:srgbClr val="0070C0"/>
                </a:solidFill>
              </a:rPr>
              <a:t>projects</a:t>
            </a:r>
            <a:r>
              <a:rPr lang="en-US" smtClean="0"/>
              <a:t> of 4 person-months </a:t>
            </a:r>
            <a:r>
              <a:rPr lang="en-US" smtClean="0"/>
              <a:t>and a </a:t>
            </a:r>
            <a:r>
              <a:rPr lang="en-US" smtClean="0">
                <a:solidFill>
                  <a:srgbClr val="0070C0"/>
                </a:solidFill>
              </a:rPr>
              <a:t>steady flow of releases</a:t>
            </a:r>
            <a:r>
              <a:rPr lang="en-US" smtClean="0"/>
              <a:t> remain leading</a:t>
            </a:r>
            <a:endParaRPr lang="en-US" smtClean="0"/>
          </a:p>
          <a:p>
            <a:endParaRPr lang="en-US" smtClean="0"/>
          </a:p>
          <a:p>
            <a:r>
              <a:rPr lang="en-US" smtClean="0">
                <a:solidFill>
                  <a:srgbClr val="0070C0"/>
                </a:solidFill>
              </a:rPr>
              <a:t>Inside each project, 20% </a:t>
            </a:r>
            <a:r>
              <a:rPr lang="en-US" smtClean="0"/>
              <a:t>of the time is devoted to infrastructure improvement, no special </a:t>
            </a:r>
            <a:r>
              <a:rPr lang="en-US" smtClean="0"/>
              <a:t>permission </a:t>
            </a:r>
            <a:r>
              <a:rPr lang="en-US" smtClean="0"/>
              <a:t>or projectnr needed, just book it on the project itself</a:t>
            </a:r>
          </a:p>
          <a:p>
            <a:endParaRPr lang="en-US" smtClean="0"/>
          </a:p>
          <a:p>
            <a:r>
              <a:rPr lang="en-US" smtClean="0">
                <a:solidFill>
                  <a:srgbClr val="0070C0"/>
                </a:solidFill>
              </a:rPr>
              <a:t>After everly release </a:t>
            </a:r>
            <a:r>
              <a:rPr lang="en-US" smtClean="0"/>
              <a:t>we have a DQI step organized as a project participated in by all developers. A DQI step also takes about </a:t>
            </a:r>
            <a:r>
              <a:rPr lang="en-US" smtClean="0">
                <a:solidFill>
                  <a:srgbClr val="0070C0"/>
                </a:solidFill>
              </a:rPr>
              <a:t>10% </a:t>
            </a:r>
            <a:r>
              <a:rPr lang="en-US" smtClean="0"/>
              <a:t>of </a:t>
            </a:r>
            <a:r>
              <a:rPr lang="en-US" smtClean="0"/>
              <a:t>the calender time of a regular release</a:t>
            </a:r>
          </a:p>
          <a:p>
            <a:endParaRPr lang="en-US" smtClean="0"/>
          </a:p>
          <a:p>
            <a:endParaRPr lang="en-US"/>
          </a:p>
        </p:txBody>
      </p: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2060848"/>
            <a:ext cx="3401740" cy="100811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116632"/>
            <a:ext cx="8305800" cy="1143000"/>
          </a:xfrm>
        </p:spPr>
        <p:txBody>
          <a:bodyPr/>
          <a:lstStyle/>
          <a:p>
            <a:r>
              <a:rPr lang="en-US" smtClean="0"/>
              <a:t>So like this:</a:t>
            </a:r>
            <a:endParaRPr lang="en-US"/>
          </a:p>
        </p:txBody>
      </p:sp>
      <p:sp>
        <p:nvSpPr>
          <p:cNvPr id="3" name="Rechthoek 2"/>
          <p:cNvSpPr/>
          <p:nvPr/>
        </p:nvSpPr>
        <p:spPr>
          <a:xfrm>
            <a:off x="1043608" y="3140968"/>
            <a:ext cx="1584176" cy="43204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hthoek 3"/>
          <p:cNvSpPr/>
          <p:nvPr/>
        </p:nvSpPr>
        <p:spPr>
          <a:xfrm>
            <a:off x="3707904" y="3140968"/>
            <a:ext cx="1584176" cy="43204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hthoek 4"/>
          <p:cNvSpPr/>
          <p:nvPr/>
        </p:nvSpPr>
        <p:spPr>
          <a:xfrm>
            <a:off x="6300192" y="3140968"/>
            <a:ext cx="1584176" cy="43204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hthoek 9"/>
          <p:cNvSpPr/>
          <p:nvPr/>
        </p:nvSpPr>
        <p:spPr>
          <a:xfrm>
            <a:off x="1043608" y="3717032"/>
            <a:ext cx="158417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hthoek 10"/>
          <p:cNvSpPr/>
          <p:nvPr/>
        </p:nvSpPr>
        <p:spPr>
          <a:xfrm>
            <a:off x="3707904" y="3717032"/>
            <a:ext cx="158417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hthoek 11"/>
          <p:cNvSpPr/>
          <p:nvPr/>
        </p:nvSpPr>
        <p:spPr>
          <a:xfrm>
            <a:off x="6300192" y="3717032"/>
            <a:ext cx="158417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hthoek 12"/>
          <p:cNvSpPr/>
          <p:nvPr/>
        </p:nvSpPr>
        <p:spPr>
          <a:xfrm>
            <a:off x="1043608" y="4293096"/>
            <a:ext cx="1584176" cy="4320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hthoek 13"/>
          <p:cNvSpPr/>
          <p:nvPr/>
        </p:nvSpPr>
        <p:spPr>
          <a:xfrm>
            <a:off x="3707904" y="4293096"/>
            <a:ext cx="1584176" cy="4320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hthoek 14"/>
          <p:cNvSpPr/>
          <p:nvPr/>
        </p:nvSpPr>
        <p:spPr>
          <a:xfrm>
            <a:off x="6300192" y="4293096"/>
            <a:ext cx="1584176" cy="4320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hthoek 15"/>
          <p:cNvSpPr/>
          <p:nvPr/>
        </p:nvSpPr>
        <p:spPr>
          <a:xfrm>
            <a:off x="2987824" y="3140968"/>
            <a:ext cx="288032" cy="1584176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hthoek 16"/>
          <p:cNvSpPr/>
          <p:nvPr/>
        </p:nvSpPr>
        <p:spPr>
          <a:xfrm>
            <a:off x="1043608" y="3140968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hthoek 17"/>
          <p:cNvSpPr/>
          <p:nvPr/>
        </p:nvSpPr>
        <p:spPr>
          <a:xfrm>
            <a:off x="3707904" y="3140968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hthoek 18"/>
          <p:cNvSpPr/>
          <p:nvPr/>
        </p:nvSpPr>
        <p:spPr>
          <a:xfrm>
            <a:off x="6300192" y="3140968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hthoek 19"/>
          <p:cNvSpPr/>
          <p:nvPr/>
        </p:nvSpPr>
        <p:spPr>
          <a:xfrm>
            <a:off x="1043608" y="3717032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hthoek 20"/>
          <p:cNvSpPr/>
          <p:nvPr/>
        </p:nvSpPr>
        <p:spPr>
          <a:xfrm>
            <a:off x="6300192" y="3717032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hthoek 21"/>
          <p:cNvSpPr/>
          <p:nvPr/>
        </p:nvSpPr>
        <p:spPr>
          <a:xfrm>
            <a:off x="3707904" y="3717032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hthoek 22"/>
          <p:cNvSpPr/>
          <p:nvPr/>
        </p:nvSpPr>
        <p:spPr>
          <a:xfrm>
            <a:off x="1043608" y="4293096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hthoek 23"/>
          <p:cNvSpPr/>
          <p:nvPr/>
        </p:nvSpPr>
        <p:spPr>
          <a:xfrm>
            <a:off x="6300192" y="4293096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hthoek 24"/>
          <p:cNvSpPr/>
          <p:nvPr/>
        </p:nvSpPr>
        <p:spPr>
          <a:xfrm>
            <a:off x="3707904" y="4293096"/>
            <a:ext cx="1584176" cy="7200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hthoek 25"/>
          <p:cNvSpPr/>
          <p:nvPr/>
        </p:nvSpPr>
        <p:spPr>
          <a:xfrm>
            <a:off x="5652120" y="3140968"/>
            <a:ext cx="288032" cy="1584176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hthoek 26"/>
          <p:cNvSpPr/>
          <p:nvPr/>
        </p:nvSpPr>
        <p:spPr>
          <a:xfrm>
            <a:off x="8172400" y="3140968"/>
            <a:ext cx="288032" cy="1584176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IJL-RECHTS 27"/>
          <p:cNvSpPr/>
          <p:nvPr/>
        </p:nvSpPr>
        <p:spPr>
          <a:xfrm>
            <a:off x="899592" y="5157192"/>
            <a:ext cx="7920880" cy="360040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kstvak 30"/>
          <p:cNvSpPr txBox="1"/>
          <p:nvPr/>
        </p:nvSpPr>
        <p:spPr>
          <a:xfrm>
            <a:off x="1259632" y="3212976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2" name="Tekstvak 31"/>
          <p:cNvSpPr txBox="1"/>
          <p:nvPr/>
        </p:nvSpPr>
        <p:spPr>
          <a:xfrm>
            <a:off x="3923928" y="3212976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3" name="Tekstvak 32"/>
          <p:cNvSpPr txBox="1"/>
          <p:nvPr/>
        </p:nvSpPr>
        <p:spPr>
          <a:xfrm>
            <a:off x="6516216" y="3212976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4" name="Tekstvak 33"/>
          <p:cNvSpPr txBox="1"/>
          <p:nvPr/>
        </p:nvSpPr>
        <p:spPr>
          <a:xfrm>
            <a:off x="6516216" y="3789040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5" name="Tekstvak 34"/>
          <p:cNvSpPr txBox="1"/>
          <p:nvPr/>
        </p:nvSpPr>
        <p:spPr>
          <a:xfrm>
            <a:off x="6516216" y="4365104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6" name="Tekstvak 35"/>
          <p:cNvSpPr txBox="1"/>
          <p:nvPr/>
        </p:nvSpPr>
        <p:spPr>
          <a:xfrm>
            <a:off x="3923928" y="3789040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7" name="Tekstvak 36"/>
          <p:cNvSpPr txBox="1"/>
          <p:nvPr/>
        </p:nvSpPr>
        <p:spPr>
          <a:xfrm>
            <a:off x="3923928" y="4365104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8" name="Tekstvak 37"/>
          <p:cNvSpPr txBox="1"/>
          <p:nvPr/>
        </p:nvSpPr>
        <p:spPr>
          <a:xfrm>
            <a:off x="1259632" y="4365104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Tekstvak 38"/>
          <p:cNvSpPr txBox="1"/>
          <p:nvPr/>
        </p:nvSpPr>
        <p:spPr>
          <a:xfrm>
            <a:off x="1259632" y="3789040"/>
            <a:ext cx="1133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>
                <a:solidFill>
                  <a:srgbClr val="FF0000"/>
                </a:solidFill>
              </a:rPr>
              <a:t>PROJECT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Tekstvak 39"/>
          <p:cNvSpPr txBox="1"/>
          <p:nvPr/>
        </p:nvSpPr>
        <p:spPr>
          <a:xfrm>
            <a:off x="1619672" y="2996952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1" name="Tekstvak 40"/>
          <p:cNvSpPr txBox="1"/>
          <p:nvPr/>
        </p:nvSpPr>
        <p:spPr>
          <a:xfrm>
            <a:off x="4283968" y="2996952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2" name="Tekstvak 41"/>
          <p:cNvSpPr txBox="1"/>
          <p:nvPr/>
        </p:nvSpPr>
        <p:spPr>
          <a:xfrm>
            <a:off x="6876256" y="2996952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3" name="Tekstvak 42"/>
          <p:cNvSpPr txBox="1"/>
          <p:nvPr/>
        </p:nvSpPr>
        <p:spPr>
          <a:xfrm>
            <a:off x="1619672" y="3573016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4" name="Tekstvak 43"/>
          <p:cNvSpPr txBox="1"/>
          <p:nvPr/>
        </p:nvSpPr>
        <p:spPr>
          <a:xfrm>
            <a:off x="1619672" y="4149080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5" name="Tekstvak 44"/>
          <p:cNvSpPr txBox="1"/>
          <p:nvPr/>
        </p:nvSpPr>
        <p:spPr>
          <a:xfrm>
            <a:off x="4283968" y="3573016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6" name="Tekstvak 45"/>
          <p:cNvSpPr txBox="1"/>
          <p:nvPr/>
        </p:nvSpPr>
        <p:spPr>
          <a:xfrm>
            <a:off x="4283968" y="4149080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7" name="Tekstvak 46"/>
          <p:cNvSpPr txBox="1"/>
          <p:nvPr/>
        </p:nvSpPr>
        <p:spPr>
          <a:xfrm>
            <a:off x="6876256" y="3573016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8" name="Tekstvak 47"/>
          <p:cNvSpPr txBox="1"/>
          <p:nvPr/>
        </p:nvSpPr>
        <p:spPr>
          <a:xfrm>
            <a:off x="6876256" y="4149080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49" name="Tekstvak 48"/>
          <p:cNvSpPr txBox="1"/>
          <p:nvPr/>
        </p:nvSpPr>
        <p:spPr>
          <a:xfrm>
            <a:off x="2915816" y="3789040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50" name="Tekstvak 49"/>
          <p:cNvSpPr txBox="1"/>
          <p:nvPr/>
        </p:nvSpPr>
        <p:spPr>
          <a:xfrm>
            <a:off x="5580112" y="3789040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51" name="Tekstvak 50"/>
          <p:cNvSpPr txBox="1"/>
          <p:nvPr/>
        </p:nvSpPr>
        <p:spPr>
          <a:xfrm>
            <a:off x="8100392" y="3789040"/>
            <a:ext cx="4956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smtClean="0">
                <a:solidFill>
                  <a:srgbClr val="FF0000"/>
                </a:solidFill>
              </a:rPr>
              <a:t>DQI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52" name="Tekstvak 51"/>
          <p:cNvSpPr txBox="1"/>
          <p:nvPr/>
        </p:nvSpPr>
        <p:spPr>
          <a:xfrm>
            <a:off x="1331640" y="234888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mtClean="0">
                <a:solidFill>
                  <a:srgbClr val="FF0000"/>
                </a:solidFill>
              </a:rPr>
              <a:t>RELEASE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53" name="Tekstvak 52"/>
          <p:cNvSpPr txBox="1"/>
          <p:nvPr/>
        </p:nvSpPr>
        <p:spPr>
          <a:xfrm>
            <a:off x="3995936" y="234888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mtClean="0">
                <a:solidFill>
                  <a:srgbClr val="FF0000"/>
                </a:solidFill>
              </a:rPr>
              <a:t>RELEASE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54" name="Tekstvak 53"/>
          <p:cNvSpPr txBox="1"/>
          <p:nvPr/>
        </p:nvSpPr>
        <p:spPr>
          <a:xfrm>
            <a:off x="6516216" y="234888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mtClean="0">
                <a:solidFill>
                  <a:srgbClr val="FF0000"/>
                </a:solidFill>
              </a:rPr>
              <a:t>RELEASE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55" name="Tekstvak 54"/>
          <p:cNvSpPr txBox="1"/>
          <p:nvPr/>
        </p:nvSpPr>
        <p:spPr>
          <a:xfrm>
            <a:off x="4139952" y="537321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mtClean="0">
                <a:solidFill>
                  <a:srgbClr val="FF0000"/>
                </a:solidFill>
              </a:rPr>
              <a:t>TIME</a:t>
            </a:r>
            <a:endParaRPr lang="en-US" sz="24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43608" y="0"/>
            <a:ext cx="7653536" cy="692696"/>
          </a:xfrm>
        </p:spPr>
        <p:txBody>
          <a:bodyPr>
            <a:normAutofit fontScale="90000"/>
          </a:bodyPr>
          <a:lstStyle/>
          <a:p>
            <a:r>
              <a:rPr lang="en-US" smtClean="0"/>
              <a:t>If it ain’t broke, don’t fix it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51520" y="2780928"/>
            <a:ext cx="8712968" cy="4221088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We </a:t>
            </a:r>
            <a:r>
              <a:rPr lang="en-US" smtClean="0">
                <a:solidFill>
                  <a:srgbClr val="FF0000"/>
                </a:solidFill>
              </a:rPr>
              <a:t>do not touch </a:t>
            </a:r>
            <a:r>
              <a:rPr lang="en-US" smtClean="0">
                <a:solidFill>
                  <a:srgbClr val="FF0000"/>
                </a:solidFill>
              </a:rPr>
              <a:t>the </a:t>
            </a:r>
            <a:r>
              <a:rPr lang="en-US" smtClean="0">
                <a:solidFill>
                  <a:srgbClr val="FF0000"/>
                </a:solidFill>
              </a:rPr>
              <a:t>algorithms </a:t>
            </a:r>
            <a:r>
              <a:rPr lang="en-US" smtClean="0"/>
              <a:t>(</a:t>
            </a:r>
            <a:r>
              <a:rPr lang="en-US" smtClean="0"/>
              <a:t>balls), since </a:t>
            </a:r>
            <a:r>
              <a:rPr lang="en-US" smtClean="0"/>
              <a:t>they’re usually rock solid. But we may encapsulate them in a better API, e.g. suitable for scripting </a:t>
            </a:r>
            <a:r>
              <a:rPr lang="en-US" smtClean="0"/>
              <a:t>and </a:t>
            </a:r>
            <a:r>
              <a:rPr lang="en-US" smtClean="0"/>
              <a:t>autotesting</a:t>
            </a:r>
          </a:p>
          <a:p>
            <a:endParaRPr lang="en-US" smtClean="0"/>
          </a:p>
          <a:p>
            <a:r>
              <a:rPr lang="en-US" smtClean="0"/>
              <a:t>Rather than using STL directly in legacy code we use the facade pattern extensively to encapsulate STL containers in application-specific layers </a:t>
            </a:r>
            <a:r>
              <a:rPr lang="en-US" u="sng" smtClean="0"/>
              <a:t>as they are </a:t>
            </a:r>
            <a:r>
              <a:rPr lang="en-US" u="sng" smtClean="0"/>
              <a:t>used </a:t>
            </a:r>
            <a:r>
              <a:rPr lang="en-US" u="sng" smtClean="0"/>
              <a:t>currently</a:t>
            </a:r>
          </a:p>
          <a:p>
            <a:endParaRPr lang="en-US" u="sng" smtClean="0"/>
          </a:p>
          <a:p>
            <a:r>
              <a:rPr lang="en-US" smtClean="0"/>
              <a:t>We </a:t>
            </a:r>
            <a:r>
              <a:rPr lang="en-US" smtClean="0"/>
              <a:t>define a subset of C++ that’s compatible over multiple platforms, multiple compilers and multiple versions, and stick to that for at least 5 </a:t>
            </a:r>
            <a:r>
              <a:rPr lang="en-US" smtClean="0"/>
              <a:t>years, at least on API boundaries</a:t>
            </a:r>
            <a:endParaRPr lang="en-US" smtClean="0"/>
          </a:p>
          <a:p>
            <a:endParaRPr lang="en-US" smtClean="0"/>
          </a:p>
          <a:p>
            <a:pPr>
              <a:buNone/>
            </a:pPr>
            <a:endParaRPr lang="en-US"/>
          </a:p>
        </p:txBody>
      </p:sp>
      <p:pic>
        <p:nvPicPr>
          <p:cNvPr id="8194" name="Picture 2" descr="Image result for CAR BATTERY OL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52283" y="908720"/>
            <a:ext cx="2595996" cy="17281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43608" y="0"/>
            <a:ext cx="7776864" cy="692696"/>
          </a:xfrm>
        </p:spPr>
        <p:txBody>
          <a:bodyPr>
            <a:noAutofit/>
          </a:bodyPr>
          <a:lstStyle/>
          <a:p>
            <a:r>
              <a:rPr lang="en-US" sz="4000" smtClean="0"/>
              <a:t>A</a:t>
            </a:r>
            <a:r>
              <a:rPr lang="en-US" sz="4000" smtClean="0"/>
              <a:t>pp structure reflects org structure</a:t>
            </a:r>
            <a:endParaRPr lang="en-US" sz="4000"/>
          </a:p>
        </p:txBody>
      </p:sp>
      <p:sp>
        <p:nvSpPr>
          <p:cNvPr id="152" name="Rechthoek 151"/>
          <p:cNvSpPr/>
          <p:nvPr/>
        </p:nvSpPr>
        <p:spPr>
          <a:xfrm>
            <a:off x="5508104" y="1844824"/>
            <a:ext cx="28803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3" name="Rechthoek 152"/>
          <p:cNvSpPr/>
          <p:nvPr/>
        </p:nvSpPr>
        <p:spPr>
          <a:xfrm>
            <a:off x="5508104" y="3284984"/>
            <a:ext cx="288032" cy="151216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Rechthoek 153"/>
          <p:cNvSpPr/>
          <p:nvPr/>
        </p:nvSpPr>
        <p:spPr>
          <a:xfrm>
            <a:off x="5508104" y="5301208"/>
            <a:ext cx="288032" cy="79208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Rechthoek 165"/>
          <p:cNvSpPr/>
          <p:nvPr/>
        </p:nvSpPr>
        <p:spPr>
          <a:xfrm>
            <a:off x="611560" y="2276872"/>
            <a:ext cx="288032" cy="352839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hthoek 166"/>
          <p:cNvSpPr/>
          <p:nvPr/>
        </p:nvSpPr>
        <p:spPr>
          <a:xfrm>
            <a:off x="683568" y="5085184"/>
            <a:ext cx="72008" cy="57606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Rechthoek 167"/>
          <p:cNvSpPr/>
          <p:nvPr/>
        </p:nvSpPr>
        <p:spPr>
          <a:xfrm>
            <a:off x="683568" y="2420888"/>
            <a:ext cx="144016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hthoek 168"/>
          <p:cNvSpPr/>
          <p:nvPr/>
        </p:nvSpPr>
        <p:spPr>
          <a:xfrm>
            <a:off x="755576" y="4293096"/>
            <a:ext cx="72008" cy="57606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Rechthoek 169"/>
          <p:cNvSpPr/>
          <p:nvPr/>
        </p:nvSpPr>
        <p:spPr>
          <a:xfrm>
            <a:off x="683568" y="3501008"/>
            <a:ext cx="14401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Rechthoek 170"/>
          <p:cNvSpPr/>
          <p:nvPr/>
        </p:nvSpPr>
        <p:spPr>
          <a:xfrm>
            <a:off x="971600" y="2276872"/>
            <a:ext cx="288032" cy="352839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Rechthoek 171"/>
          <p:cNvSpPr/>
          <p:nvPr/>
        </p:nvSpPr>
        <p:spPr>
          <a:xfrm>
            <a:off x="1043608" y="5013176"/>
            <a:ext cx="144016" cy="57606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3" name="Rechthoek 172"/>
          <p:cNvSpPr/>
          <p:nvPr/>
        </p:nvSpPr>
        <p:spPr>
          <a:xfrm>
            <a:off x="1043608" y="2492896"/>
            <a:ext cx="14401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Rechthoek 173"/>
          <p:cNvSpPr/>
          <p:nvPr/>
        </p:nvSpPr>
        <p:spPr>
          <a:xfrm>
            <a:off x="1043608" y="4077072"/>
            <a:ext cx="144016" cy="79208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hthoek 174"/>
          <p:cNvSpPr/>
          <p:nvPr/>
        </p:nvSpPr>
        <p:spPr>
          <a:xfrm>
            <a:off x="1043608" y="3284984"/>
            <a:ext cx="144016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hthoek 175"/>
          <p:cNvSpPr/>
          <p:nvPr/>
        </p:nvSpPr>
        <p:spPr>
          <a:xfrm>
            <a:off x="1763688" y="2276872"/>
            <a:ext cx="288032" cy="352839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hthoek 176"/>
          <p:cNvSpPr/>
          <p:nvPr/>
        </p:nvSpPr>
        <p:spPr>
          <a:xfrm>
            <a:off x="1835696" y="5373216"/>
            <a:ext cx="144016" cy="2880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Rechthoek 177"/>
          <p:cNvSpPr/>
          <p:nvPr/>
        </p:nvSpPr>
        <p:spPr>
          <a:xfrm>
            <a:off x="1835696" y="2636912"/>
            <a:ext cx="144016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hthoek 178"/>
          <p:cNvSpPr/>
          <p:nvPr/>
        </p:nvSpPr>
        <p:spPr>
          <a:xfrm>
            <a:off x="1907704" y="4293096"/>
            <a:ext cx="72008" cy="576064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echthoek 179"/>
          <p:cNvSpPr/>
          <p:nvPr/>
        </p:nvSpPr>
        <p:spPr>
          <a:xfrm>
            <a:off x="1835696" y="3717032"/>
            <a:ext cx="144016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Rechthoek 180"/>
          <p:cNvSpPr/>
          <p:nvPr/>
        </p:nvSpPr>
        <p:spPr>
          <a:xfrm>
            <a:off x="1043608" y="3789040"/>
            <a:ext cx="144016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Rechthoek 181"/>
          <p:cNvSpPr/>
          <p:nvPr/>
        </p:nvSpPr>
        <p:spPr>
          <a:xfrm>
            <a:off x="5868144" y="1844824"/>
            <a:ext cx="28803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Rechthoek 182"/>
          <p:cNvSpPr/>
          <p:nvPr/>
        </p:nvSpPr>
        <p:spPr>
          <a:xfrm>
            <a:off x="5868144" y="3284984"/>
            <a:ext cx="288032" cy="151216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Rechthoek 183"/>
          <p:cNvSpPr/>
          <p:nvPr/>
        </p:nvSpPr>
        <p:spPr>
          <a:xfrm>
            <a:off x="5868144" y="5301208"/>
            <a:ext cx="288032" cy="79208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Rechthoek 184"/>
          <p:cNvSpPr/>
          <p:nvPr/>
        </p:nvSpPr>
        <p:spPr>
          <a:xfrm>
            <a:off x="6660232" y="1844824"/>
            <a:ext cx="288032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6" name="Rechthoek 185"/>
          <p:cNvSpPr/>
          <p:nvPr/>
        </p:nvSpPr>
        <p:spPr>
          <a:xfrm>
            <a:off x="6660232" y="3284984"/>
            <a:ext cx="288032" cy="1512168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echthoek 186"/>
          <p:cNvSpPr/>
          <p:nvPr/>
        </p:nvSpPr>
        <p:spPr>
          <a:xfrm>
            <a:off x="6660232" y="5301208"/>
            <a:ext cx="288032" cy="792088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Rechthoek 187"/>
          <p:cNvSpPr/>
          <p:nvPr/>
        </p:nvSpPr>
        <p:spPr>
          <a:xfrm>
            <a:off x="5508104" y="2924944"/>
            <a:ext cx="1440160" cy="288032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Script API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89" name="Rechthoek 188"/>
          <p:cNvSpPr/>
          <p:nvPr/>
        </p:nvSpPr>
        <p:spPr>
          <a:xfrm>
            <a:off x="5508104" y="4941168"/>
            <a:ext cx="1440160" cy="288032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Tensor API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90" name="Tekstvak 189"/>
          <p:cNvSpPr txBox="1"/>
          <p:nvPr/>
        </p:nvSpPr>
        <p:spPr>
          <a:xfrm>
            <a:off x="1331640" y="386104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...</a:t>
            </a:r>
            <a:endParaRPr lang="en-US"/>
          </a:p>
        </p:txBody>
      </p:sp>
      <p:sp>
        <p:nvSpPr>
          <p:cNvPr id="191" name="Tekstvak 190"/>
          <p:cNvSpPr txBox="1"/>
          <p:nvPr/>
        </p:nvSpPr>
        <p:spPr>
          <a:xfrm>
            <a:off x="6228184" y="2204864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...</a:t>
            </a:r>
            <a:endParaRPr lang="en-US"/>
          </a:p>
        </p:txBody>
      </p:sp>
      <p:sp>
        <p:nvSpPr>
          <p:cNvPr id="192" name="Tekstvak 191"/>
          <p:cNvSpPr txBox="1"/>
          <p:nvPr/>
        </p:nvSpPr>
        <p:spPr>
          <a:xfrm>
            <a:off x="6228184" y="5517232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...</a:t>
            </a:r>
            <a:endParaRPr lang="en-US"/>
          </a:p>
        </p:txBody>
      </p:sp>
      <p:sp>
        <p:nvSpPr>
          <p:cNvPr id="193" name="Tekstvak 192"/>
          <p:cNvSpPr txBox="1"/>
          <p:nvPr/>
        </p:nvSpPr>
        <p:spPr>
          <a:xfrm>
            <a:off x="6228184" y="3789040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...</a:t>
            </a:r>
            <a:endParaRPr lang="en-US"/>
          </a:p>
        </p:txBody>
      </p:sp>
      <p:sp>
        <p:nvSpPr>
          <p:cNvPr id="195" name="PIJL-OMLAAG 194"/>
          <p:cNvSpPr/>
          <p:nvPr/>
        </p:nvSpPr>
        <p:spPr>
          <a:xfrm>
            <a:off x="1043608" y="1700808"/>
            <a:ext cx="144016" cy="432048"/>
          </a:xfrm>
          <a:prstGeom prst="down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PIJL-OMLAAG 195"/>
          <p:cNvSpPr/>
          <p:nvPr/>
        </p:nvSpPr>
        <p:spPr>
          <a:xfrm>
            <a:off x="1835696" y="1700808"/>
            <a:ext cx="144016" cy="432048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PIJL-OMLAAG 196"/>
          <p:cNvSpPr/>
          <p:nvPr/>
        </p:nvSpPr>
        <p:spPr>
          <a:xfrm>
            <a:off x="683568" y="1700808"/>
            <a:ext cx="14401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8" name="Tekstvak 197"/>
          <p:cNvSpPr txBox="1"/>
          <p:nvPr/>
        </p:nvSpPr>
        <p:spPr>
          <a:xfrm>
            <a:off x="539552" y="119675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App specialists</a:t>
            </a:r>
            <a:endParaRPr lang="en-US"/>
          </a:p>
        </p:txBody>
      </p:sp>
      <p:sp>
        <p:nvSpPr>
          <p:cNvPr id="199" name="PIJL-OMLAAG 198"/>
          <p:cNvSpPr/>
          <p:nvPr/>
        </p:nvSpPr>
        <p:spPr>
          <a:xfrm>
            <a:off x="5940152" y="1340768"/>
            <a:ext cx="144016" cy="432048"/>
          </a:xfrm>
          <a:prstGeom prst="down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PIJL-OMLAAG 199"/>
          <p:cNvSpPr/>
          <p:nvPr/>
        </p:nvSpPr>
        <p:spPr>
          <a:xfrm>
            <a:off x="6732240" y="1340768"/>
            <a:ext cx="144016" cy="432048"/>
          </a:xfrm>
          <a:prstGeom prst="downArrow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1" name="PIJL-OMLAAG 200"/>
          <p:cNvSpPr/>
          <p:nvPr/>
        </p:nvSpPr>
        <p:spPr>
          <a:xfrm>
            <a:off x="5580112" y="1340768"/>
            <a:ext cx="144016" cy="43204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Tekstvak 201"/>
          <p:cNvSpPr txBox="1"/>
          <p:nvPr/>
        </p:nvSpPr>
        <p:spPr>
          <a:xfrm>
            <a:off x="5436096" y="83671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App specialists</a:t>
            </a:r>
            <a:endParaRPr lang="en-US"/>
          </a:p>
        </p:txBody>
      </p:sp>
      <p:sp>
        <p:nvSpPr>
          <p:cNvPr id="203" name="PIJL-RECHTS 202"/>
          <p:cNvSpPr/>
          <p:nvPr/>
        </p:nvSpPr>
        <p:spPr>
          <a:xfrm>
            <a:off x="4932040" y="2204864"/>
            <a:ext cx="504056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PIJL-RECHTS 203"/>
          <p:cNvSpPr/>
          <p:nvPr/>
        </p:nvSpPr>
        <p:spPr>
          <a:xfrm>
            <a:off x="4932040" y="3933056"/>
            <a:ext cx="504056" cy="144016"/>
          </a:xfrm>
          <a:prstGeom prst="rightArrow">
            <a:avLst/>
          </a:prstGeom>
          <a:solidFill>
            <a:srgbClr val="FFFF00"/>
          </a:solidFill>
          <a:ln>
            <a:solidFill>
              <a:srgbClr val="FFCC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PIJL-RECHTS 204"/>
          <p:cNvSpPr/>
          <p:nvPr/>
        </p:nvSpPr>
        <p:spPr>
          <a:xfrm>
            <a:off x="4932040" y="5589240"/>
            <a:ext cx="504056" cy="144016"/>
          </a:xfrm>
          <a:prstGeom prst="rightArrow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Tekstvak 205"/>
          <p:cNvSpPr txBox="1"/>
          <p:nvPr/>
        </p:nvSpPr>
        <p:spPr>
          <a:xfrm>
            <a:off x="3131840" y="2060848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UI</a:t>
            </a:r>
          </a:p>
          <a:p>
            <a:r>
              <a:rPr lang="en-US" smtClean="0"/>
              <a:t>coordinator</a:t>
            </a:r>
            <a:endParaRPr lang="en-US"/>
          </a:p>
        </p:txBody>
      </p:sp>
      <p:sp>
        <p:nvSpPr>
          <p:cNvPr id="207" name="Tekstvak 206"/>
          <p:cNvSpPr txBox="1"/>
          <p:nvPr/>
        </p:nvSpPr>
        <p:spPr>
          <a:xfrm>
            <a:off x="3203848" y="3789040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Algorithms</a:t>
            </a:r>
          </a:p>
          <a:p>
            <a:r>
              <a:rPr lang="en-US" smtClean="0"/>
              <a:t>coordinator</a:t>
            </a:r>
            <a:endParaRPr lang="en-US"/>
          </a:p>
        </p:txBody>
      </p:sp>
      <p:sp>
        <p:nvSpPr>
          <p:cNvPr id="208" name="Tekstvak 207"/>
          <p:cNvSpPr txBox="1"/>
          <p:nvPr/>
        </p:nvSpPr>
        <p:spPr>
          <a:xfrm>
            <a:off x="3203848" y="5445224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Data</a:t>
            </a:r>
          </a:p>
          <a:p>
            <a:r>
              <a:rPr lang="en-US" smtClean="0"/>
              <a:t>coordinator</a:t>
            </a:r>
            <a:endParaRPr lang="en-US"/>
          </a:p>
        </p:txBody>
      </p:sp>
      <p:sp>
        <p:nvSpPr>
          <p:cNvPr id="209" name="Tekstvak 208"/>
          <p:cNvSpPr txBox="1"/>
          <p:nvPr/>
        </p:nvSpPr>
        <p:spPr>
          <a:xfrm>
            <a:off x="7271792" y="3573016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Function structured</a:t>
            </a:r>
            <a:endParaRPr lang="en-US"/>
          </a:p>
        </p:txBody>
      </p:sp>
      <p:sp>
        <p:nvSpPr>
          <p:cNvPr id="210" name="Tekstvak 209"/>
          <p:cNvSpPr txBox="1"/>
          <p:nvPr/>
        </p:nvSpPr>
        <p:spPr>
          <a:xfrm>
            <a:off x="7343800" y="1988840"/>
            <a:ext cx="18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Object</a:t>
            </a:r>
          </a:p>
          <a:p>
            <a:r>
              <a:rPr lang="en-US" smtClean="0"/>
              <a:t>oriented</a:t>
            </a:r>
          </a:p>
        </p:txBody>
      </p:sp>
      <p:sp>
        <p:nvSpPr>
          <p:cNvPr id="211" name="Tekstvak 210"/>
          <p:cNvSpPr txBox="1"/>
          <p:nvPr/>
        </p:nvSpPr>
        <p:spPr>
          <a:xfrm>
            <a:off x="7308304" y="5445224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mtClean="0"/>
              <a:t>Hierarchical</a:t>
            </a:r>
          </a:p>
        </p:txBody>
      </p:sp>
      <p:cxnSp>
        <p:nvCxnSpPr>
          <p:cNvPr id="221" name="Rechte verbindingslijn met pijl 220"/>
          <p:cNvCxnSpPr/>
          <p:nvPr/>
        </p:nvCxnSpPr>
        <p:spPr>
          <a:xfrm flipH="1">
            <a:off x="4139952" y="1268760"/>
            <a:ext cx="1224136" cy="86409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8229600" cy="564672"/>
          </a:xfrm>
        </p:spPr>
        <p:txBody>
          <a:bodyPr>
            <a:normAutofit fontScale="90000"/>
          </a:bodyPr>
          <a:lstStyle/>
          <a:p>
            <a:r>
              <a:rPr lang="en-US" smtClean="0"/>
              <a:t>During projects </a:t>
            </a:r>
            <a:r>
              <a:rPr lang="en-US" sz="3600" smtClean="0"/>
              <a:t>(20% of budget hours)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23528" y="1556792"/>
            <a:ext cx="8496944" cy="5301208"/>
          </a:xfr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normAutofit fontScale="92500" lnSpcReduction="20000"/>
          </a:bodyPr>
          <a:lstStyle/>
          <a:p>
            <a:r>
              <a:rPr lang="en-US" b="1" smtClean="0">
                <a:solidFill>
                  <a:srgbClr val="FF0000"/>
                </a:solidFill>
              </a:rPr>
              <a:t>Curb expontial growth: undo code duplication</a:t>
            </a:r>
            <a:r>
              <a:rPr lang="en-US" smtClean="0"/>
              <a:t>, keep an eye on new employees</a:t>
            </a:r>
          </a:p>
          <a:p>
            <a:endParaRPr lang="en-US" smtClean="0"/>
          </a:p>
          <a:p>
            <a:r>
              <a:rPr lang="en-US" smtClean="0"/>
              <a:t>Refactor to common ground tensor facade if possible</a:t>
            </a:r>
          </a:p>
          <a:p>
            <a:endParaRPr lang="en-US" smtClean="0"/>
          </a:p>
          <a:p>
            <a:r>
              <a:rPr lang="en-US" smtClean="0"/>
              <a:t>Spend time on hidden quality and details</a:t>
            </a:r>
          </a:p>
          <a:p>
            <a:endParaRPr lang="en-US" smtClean="0"/>
          </a:p>
          <a:p>
            <a:r>
              <a:rPr lang="en-US" smtClean="0"/>
              <a:t>Respect the style of the code you’re working on (if present)</a:t>
            </a:r>
          </a:p>
          <a:p>
            <a:endParaRPr lang="en-US" smtClean="0"/>
          </a:p>
          <a:p>
            <a:r>
              <a:rPr lang="en-US" smtClean="0"/>
              <a:t>Try to factor out GUI and data storage from algorithms</a:t>
            </a:r>
          </a:p>
          <a:p>
            <a:endParaRPr lang="en-US" smtClean="0"/>
          </a:p>
          <a:p>
            <a:r>
              <a:rPr lang="en-US" smtClean="0"/>
              <a:t>For new modules provide an explicit command API</a:t>
            </a:r>
          </a:p>
          <a:p>
            <a:endParaRPr lang="en-US" smtClean="0"/>
          </a:p>
          <a:p>
            <a:r>
              <a:rPr lang="en-US" smtClean="0"/>
              <a:t>Walk through your code with a buddy</a:t>
            </a:r>
          </a:p>
        </p:txBody>
      </p:sp>
      <p:sp>
        <p:nvSpPr>
          <p:cNvPr id="10" name="Vrije vorm 9"/>
          <p:cNvSpPr/>
          <p:nvPr/>
        </p:nvSpPr>
        <p:spPr>
          <a:xfrm>
            <a:off x="0" y="0"/>
            <a:ext cx="8748464" cy="6669360"/>
          </a:xfrm>
          <a:custGeom>
            <a:avLst/>
            <a:gdLst>
              <a:gd name="connsiteX0" fmla="*/ 0 w 7342632"/>
              <a:gd name="connsiteY0" fmla="*/ 6035040 h 6035040"/>
              <a:gd name="connsiteX1" fmla="*/ 36576 w 7342632"/>
              <a:gd name="connsiteY1" fmla="*/ 6007608 h 6035040"/>
              <a:gd name="connsiteX2" fmla="*/ 82296 w 7342632"/>
              <a:gd name="connsiteY2" fmla="*/ 5998464 h 6035040"/>
              <a:gd name="connsiteX3" fmla="*/ 118872 w 7342632"/>
              <a:gd name="connsiteY3" fmla="*/ 5989320 h 6035040"/>
              <a:gd name="connsiteX4" fmla="*/ 384048 w 7342632"/>
              <a:gd name="connsiteY4" fmla="*/ 5971032 h 6035040"/>
              <a:gd name="connsiteX5" fmla="*/ 438912 w 7342632"/>
              <a:gd name="connsiteY5" fmla="*/ 5952744 h 6035040"/>
              <a:gd name="connsiteX6" fmla="*/ 484632 w 7342632"/>
              <a:gd name="connsiteY6" fmla="*/ 5943600 h 6035040"/>
              <a:gd name="connsiteX7" fmla="*/ 539496 w 7342632"/>
              <a:gd name="connsiteY7" fmla="*/ 5925312 h 6035040"/>
              <a:gd name="connsiteX8" fmla="*/ 576072 w 7342632"/>
              <a:gd name="connsiteY8" fmla="*/ 5916168 h 6035040"/>
              <a:gd name="connsiteX9" fmla="*/ 603504 w 7342632"/>
              <a:gd name="connsiteY9" fmla="*/ 5897880 h 6035040"/>
              <a:gd name="connsiteX10" fmla="*/ 667512 w 7342632"/>
              <a:gd name="connsiteY10" fmla="*/ 5879592 h 6035040"/>
              <a:gd name="connsiteX11" fmla="*/ 694944 w 7342632"/>
              <a:gd name="connsiteY11" fmla="*/ 5861304 h 6035040"/>
              <a:gd name="connsiteX12" fmla="*/ 850392 w 7342632"/>
              <a:gd name="connsiteY12" fmla="*/ 5824728 h 6035040"/>
              <a:gd name="connsiteX13" fmla="*/ 896112 w 7342632"/>
              <a:gd name="connsiteY13" fmla="*/ 5806440 h 6035040"/>
              <a:gd name="connsiteX14" fmla="*/ 950976 w 7342632"/>
              <a:gd name="connsiteY14" fmla="*/ 5788152 h 6035040"/>
              <a:gd name="connsiteX15" fmla="*/ 996696 w 7342632"/>
              <a:gd name="connsiteY15" fmla="*/ 5769864 h 6035040"/>
              <a:gd name="connsiteX16" fmla="*/ 1069848 w 7342632"/>
              <a:gd name="connsiteY16" fmla="*/ 5751576 h 6035040"/>
              <a:gd name="connsiteX17" fmla="*/ 1143000 w 7342632"/>
              <a:gd name="connsiteY17" fmla="*/ 5715000 h 6035040"/>
              <a:gd name="connsiteX18" fmla="*/ 1197864 w 7342632"/>
              <a:gd name="connsiteY18" fmla="*/ 5696712 h 6035040"/>
              <a:gd name="connsiteX19" fmla="*/ 1234440 w 7342632"/>
              <a:gd name="connsiteY19" fmla="*/ 5687568 h 6035040"/>
              <a:gd name="connsiteX20" fmla="*/ 1344168 w 7342632"/>
              <a:gd name="connsiteY20" fmla="*/ 5650992 h 6035040"/>
              <a:gd name="connsiteX21" fmla="*/ 1399032 w 7342632"/>
              <a:gd name="connsiteY21" fmla="*/ 5641848 h 6035040"/>
              <a:gd name="connsiteX22" fmla="*/ 1527048 w 7342632"/>
              <a:gd name="connsiteY22" fmla="*/ 5605272 h 6035040"/>
              <a:gd name="connsiteX23" fmla="*/ 1591056 w 7342632"/>
              <a:gd name="connsiteY23" fmla="*/ 5586984 h 6035040"/>
              <a:gd name="connsiteX24" fmla="*/ 1655064 w 7342632"/>
              <a:gd name="connsiteY24" fmla="*/ 5550408 h 6035040"/>
              <a:gd name="connsiteX25" fmla="*/ 1719072 w 7342632"/>
              <a:gd name="connsiteY25" fmla="*/ 5541264 h 6035040"/>
              <a:gd name="connsiteX26" fmla="*/ 1764792 w 7342632"/>
              <a:gd name="connsiteY26" fmla="*/ 5532120 h 6035040"/>
              <a:gd name="connsiteX27" fmla="*/ 1856232 w 7342632"/>
              <a:gd name="connsiteY27" fmla="*/ 5486400 h 6035040"/>
              <a:gd name="connsiteX28" fmla="*/ 1883664 w 7342632"/>
              <a:gd name="connsiteY28" fmla="*/ 5468112 h 6035040"/>
              <a:gd name="connsiteX29" fmla="*/ 1920240 w 7342632"/>
              <a:gd name="connsiteY29" fmla="*/ 5458968 h 6035040"/>
              <a:gd name="connsiteX30" fmla="*/ 2039112 w 7342632"/>
              <a:gd name="connsiteY30" fmla="*/ 5413248 h 6035040"/>
              <a:gd name="connsiteX31" fmla="*/ 2075688 w 7342632"/>
              <a:gd name="connsiteY31" fmla="*/ 5385816 h 6035040"/>
              <a:gd name="connsiteX32" fmla="*/ 2157984 w 7342632"/>
              <a:gd name="connsiteY32" fmla="*/ 5349240 h 6035040"/>
              <a:gd name="connsiteX33" fmla="*/ 2212848 w 7342632"/>
              <a:gd name="connsiteY33" fmla="*/ 5321808 h 6035040"/>
              <a:gd name="connsiteX34" fmla="*/ 2368296 w 7342632"/>
              <a:gd name="connsiteY34" fmla="*/ 5248656 h 6035040"/>
              <a:gd name="connsiteX35" fmla="*/ 2468880 w 7342632"/>
              <a:gd name="connsiteY35" fmla="*/ 5193792 h 6035040"/>
              <a:gd name="connsiteX36" fmla="*/ 2551176 w 7342632"/>
              <a:gd name="connsiteY36" fmla="*/ 5138928 h 6035040"/>
              <a:gd name="connsiteX37" fmla="*/ 2633472 w 7342632"/>
              <a:gd name="connsiteY37" fmla="*/ 5102352 h 6035040"/>
              <a:gd name="connsiteX38" fmla="*/ 2679192 w 7342632"/>
              <a:gd name="connsiteY38" fmla="*/ 5074920 h 6035040"/>
              <a:gd name="connsiteX39" fmla="*/ 2734056 w 7342632"/>
              <a:gd name="connsiteY39" fmla="*/ 5047488 h 6035040"/>
              <a:gd name="connsiteX40" fmla="*/ 2816352 w 7342632"/>
              <a:gd name="connsiteY40" fmla="*/ 5001768 h 6035040"/>
              <a:gd name="connsiteX41" fmla="*/ 2843784 w 7342632"/>
              <a:gd name="connsiteY41" fmla="*/ 4992624 h 6035040"/>
              <a:gd name="connsiteX42" fmla="*/ 2889504 w 7342632"/>
              <a:gd name="connsiteY42" fmla="*/ 4965192 h 6035040"/>
              <a:gd name="connsiteX43" fmla="*/ 2953512 w 7342632"/>
              <a:gd name="connsiteY43" fmla="*/ 4928616 h 6035040"/>
              <a:gd name="connsiteX44" fmla="*/ 2990088 w 7342632"/>
              <a:gd name="connsiteY44" fmla="*/ 4919472 h 6035040"/>
              <a:gd name="connsiteX45" fmla="*/ 3054096 w 7342632"/>
              <a:gd name="connsiteY45" fmla="*/ 4882896 h 6035040"/>
              <a:gd name="connsiteX46" fmla="*/ 3118104 w 7342632"/>
              <a:gd name="connsiteY46" fmla="*/ 4846320 h 6035040"/>
              <a:gd name="connsiteX47" fmla="*/ 3136392 w 7342632"/>
              <a:gd name="connsiteY47" fmla="*/ 4818888 h 6035040"/>
              <a:gd name="connsiteX48" fmla="*/ 3209544 w 7342632"/>
              <a:gd name="connsiteY48" fmla="*/ 4782312 h 6035040"/>
              <a:gd name="connsiteX49" fmla="*/ 3282696 w 7342632"/>
              <a:gd name="connsiteY49" fmla="*/ 4718304 h 6035040"/>
              <a:gd name="connsiteX50" fmla="*/ 3419856 w 7342632"/>
              <a:gd name="connsiteY50" fmla="*/ 4645152 h 6035040"/>
              <a:gd name="connsiteX51" fmla="*/ 3557016 w 7342632"/>
              <a:gd name="connsiteY51" fmla="*/ 4562856 h 6035040"/>
              <a:gd name="connsiteX52" fmla="*/ 3630168 w 7342632"/>
              <a:gd name="connsiteY52" fmla="*/ 4517136 h 6035040"/>
              <a:gd name="connsiteX53" fmla="*/ 3694176 w 7342632"/>
              <a:gd name="connsiteY53" fmla="*/ 4471416 h 6035040"/>
              <a:gd name="connsiteX54" fmla="*/ 3776472 w 7342632"/>
              <a:gd name="connsiteY54" fmla="*/ 4434840 h 6035040"/>
              <a:gd name="connsiteX55" fmla="*/ 3931920 w 7342632"/>
              <a:gd name="connsiteY55" fmla="*/ 4334256 h 6035040"/>
              <a:gd name="connsiteX56" fmla="*/ 3995928 w 7342632"/>
              <a:gd name="connsiteY56" fmla="*/ 4297680 h 6035040"/>
              <a:gd name="connsiteX57" fmla="*/ 4041648 w 7342632"/>
              <a:gd name="connsiteY57" fmla="*/ 4261104 h 6035040"/>
              <a:gd name="connsiteX58" fmla="*/ 4069080 w 7342632"/>
              <a:gd name="connsiteY58" fmla="*/ 4242816 h 6035040"/>
              <a:gd name="connsiteX59" fmla="*/ 4105656 w 7342632"/>
              <a:gd name="connsiteY59" fmla="*/ 4215384 h 6035040"/>
              <a:gd name="connsiteX60" fmla="*/ 4133088 w 7342632"/>
              <a:gd name="connsiteY60" fmla="*/ 4197096 h 6035040"/>
              <a:gd name="connsiteX61" fmla="*/ 4169664 w 7342632"/>
              <a:gd name="connsiteY61" fmla="*/ 4160520 h 6035040"/>
              <a:gd name="connsiteX62" fmla="*/ 4215384 w 7342632"/>
              <a:gd name="connsiteY62" fmla="*/ 4142232 h 6035040"/>
              <a:gd name="connsiteX63" fmla="*/ 4261104 w 7342632"/>
              <a:gd name="connsiteY63" fmla="*/ 4114800 h 6035040"/>
              <a:gd name="connsiteX64" fmla="*/ 4343400 w 7342632"/>
              <a:gd name="connsiteY64" fmla="*/ 4050792 h 6035040"/>
              <a:gd name="connsiteX65" fmla="*/ 4434840 w 7342632"/>
              <a:gd name="connsiteY65" fmla="*/ 4005072 h 6035040"/>
              <a:gd name="connsiteX66" fmla="*/ 4535424 w 7342632"/>
              <a:gd name="connsiteY66" fmla="*/ 3950208 h 6035040"/>
              <a:gd name="connsiteX67" fmla="*/ 4617720 w 7342632"/>
              <a:gd name="connsiteY67" fmla="*/ 3895344 h 6035040"/>
              <a:gd name="connsiteX68" fmla="*/ 4645152 w 7342632"/>
              <a:gd name="connsiteY68" fmla="*/ 3877056 h 6035040"/>
              <a:gd name="connsiteX69" fmla="*/ 4672584 w 7342632"/>
              <a:gd name="connsiteY69" fmla="*/ 3849624 h 6035040"/>
              <a:gd name="connsiteX70" fmla="*/ 4736592 w 7342632"/>
              <a:gd name="connsiteY70" fmla="*/ 3803904 h 6035040"/>
              <a:gd name="connsiteX71" fmla="*/ 4791456 w 7342632"/>
              <a:gd name="connsiteY71" fmla="*/ 3758184 h 6035040"/>
              <a:gd name="connsiteX72" fmla="*/ 4855464 w 7342632"/>
              <a:gd name="connsiteY72" fmla="*/ 3712464 h 6035040"/>
              <a:gd name="connsiteX73" fmla="*/ 4892040 w 7342632"/>
              <a:gd name="connsiteY73" fmla="*/ 3685032 h 6035040"/>
              <a:gd name="connsiteX74" fmla="*/ 4983480 w 7342632"/>
              <a:gd name="connsiteY74" fmla="*/ 3611880 h 6035040"/>
              <a:gd name="connsiteX75" fmla="*/ 5029200 w 7342632"/>
              <a:gd name="connsiteY75" fmla="*/ 3575304 h 6035040"/>
              <a:gd name="connsiteX76" fmla="*/ 5047488 w 7342632"/>
              <a:gd name="connsiteY76" fmla="*/ 3547872 h 6035040"/>
              <a:gd name="connsiteX77" fmla="*/ 5074920 w 7342632"/>
              <a:gd name="connsiteY77" fmla="*/ 3520440 h 6035040"/>
              <a:gd name="connsiteX78" fmla="*/ 5093208 w 7342632"/>
              <a:gd name="connsiteY78" fmla="*/ 3493008 h 6035040"/>
              <a:gd name="connsiteX79" fmla="*/ 5175504 w 7342632"/>
              <a:gd name="connsiteY79" fmla="*/ 3410712 h 6035040"/>
              <a:gd name="connsiteX80" fmla="*/ 5248656 w 7342632"/>
              <a:gd name="connsiteY80" fmla="*/ 3328416 h 6035040"/>
              <a:gd name="connsiteX81" fmla="*/ 5285232 w 7342632"/>
              <a:gd name="connsiteY81" fmla="*/ 3282696 h 6035040"/>
              <a:gd name="connsiteX82" fmla="*/ 5349240 w 7342632"/>
              <a:gd name="connsiteY82" fmla="*/ 3227832 h 6035040"/>
              <a:gd name="connsiteX83" fmla="*/ 5404104 w 7342632"/>
              <a:gd name="connsiteY83" fmla="*/ 3172968 h 6035040"/>
              <a:gd name="connsiteX84" fmla="*/ 5468112 w 7342632"/>
              <a:gd name="connsiteY84" fmla="*/ 3127248 h 6035040"/>
              <a:gd name="connsiteX85" fmla="*/ 5522976 w 7342632"/>
              <a:gd name="connsiteY85" fmla="*/ 3063240 h 6035040"/>
              <a:gd name="connsiteX86" fmla="*/ 5733288 w 7342632"/>
              <a:gd name="connsiteY86" fmla="*/ 2889504 h 6035040"/>
              <a:gd name="connsiteX87" fmla="*/ 5788152 w 7342632"/>
              <a:gd name="connsiteY87" fmla="*/ 2825496 h 6035040"/>
              <a:gd name="connsiteX88" fmla="*/ 5861304 w 7342632"/>
              <a:gd name="connsiteY88" fmla="*/ 2752344 h 6035040"/>
              <a:gd name="connsiteX89" fmla="*/ 5907024 w 7342632"/>
              <a:gd name="connsiteY89" fmla="*/ 2688336 h 6035040"/>
              <a:gd name="connsiteX90" fmla="*/ 5961888 w 7342632"/>
              <a:gd name="connsiteY90" fmla="*/ 2624328 h 6035040"/>
              <a:gd name="connsiteX91" fmla="*/ 6080760 w 7342632"/>
              <a:gd name="connsiteY91" fmla="*/ 2459736 h 6035040"/>
              <a:gd name="connsiteX92" fmla="*/ 6208776 w 7342632"/>
              <a:gd name="connsiteY92" fmla="*/ 2313432 h 6035040"/>
              <a:gd name="connsiteX93" fmla="*/ 6263640 w 7342632"/>
              <a:gd name="connsiteY93" fmla="*/ 2231136 h 6035040"/>
              <a:gd name="connsiteX94" fmla="*/ 6318504 w 7342632"/>
              <a:gd name="connsiteY94" fmla="*/ 2157984 h 6035040"/>
              <a:gd name="connsiteX95" fmla="*/ 6364224 w 7342632"/>
              <a:gd name="connsiteY95" fmla="*/ 2084832 h 6035040"/>
              <a:gd name="connsiteX96" fmla="*/ 6428232 w 7342632"/>
              <a:gd name="connsiteY96" fmla="*/ 2011680 h 6035040"/>
              <a:gd name="connsiteX97" fmla="*/ 6473952 w 7342632"/>
              <a:gd name="connsiteY97" fmla="*/ 1929384 h 6035040"/>
              <a:gd name="connsiteX98" fmla="*/ 6574536 w 7342632"/>
              <a:gd name="connsiteY98" fmla="*/ 1810512 h 6035040"/>
              <a:gd name="connsiteX99" fmla="*/ 6693408 w 7342632"/>
              <a:gd name="connsiteY99" fmla="*/ 1627632 h 6035040"/>
              <a:gd name="connsiteX100" fmla="*/ 6739128 w 7342632"/>
              <a:gd name="connsiteY100" fmla="*/ 1563624 h 6035040"/>
              <a:gd name="connsiteX101" fmla="*/ 6775704 w 7342632"/>
              <a:gd name="connsiteY101" fmla="*/ 1499616 h 6035040"/>
              <a:gd name="connsiteX102" fmla="*/ 6812280 w 7342632"/>
              <a:gd name="connsiteY102" fmla="*/ 1453896 h 6035040"/>
              <a:gd name="connsiteX103" fmla="*/ 6839712 w 7342632"/>
              <a:gd name="connsiteY103" fmla="*/ 1408176 h 6035040"/>
              <a:gd name="connsiteX104" fmla="*/ 6858000 w 7342632"/>
              <a:gd name="connsiteY104" fmla="*/ 1380744 h 6035040"/>
              <a:gd name="connsiteX105" fmla="*/ 6867144 w 7342632"/>
              <a:gd name="connsiteY105" fmla="*/ 1335024 h 6035040"/>
              <a:gd name="connsiteX106" fmla="*/ 6903720 w 7342632"/>
              <a:gd name="connsiteY106" fmla="*/ 1271016 h 6035040"/>
              <a:gd name="connsiteX107" fmla="*/ 6940296 w 7342632"/>
              <a:gd name="connsiteY107" fmla="*/ 1179576 h 6035040"/>
              <a:gd name="connsiteX108" fmla="*/ 6949440 w 7342632"/>
              <a:gd name="connsiteY108" fmla="*/ 1152144 h 6035040"/>
              <a:gd name="connsiteX109" fmla="*/ 6967728 w 7342632"/>
              <a:gd name="connsiteY109" fmla="*/ 1124712 h 6035040"/>
              <a:gd name="connsiteX110" fmla="*/ 6976872 w 7342632"/>
              <a:gd name="connsiteY110" fmla="*/ 914400 h 6035040"/>
              <a:gd name="connsiteX111" fmla="*/ 6995160 w 7342632"/>
              <a:gd name="connsiteY111" fmla="*/ 859536 h 6035040"/>
              <a:gd name="connsiteX112" fmla="*/ 7022592 w 7342632"/>
              <a:gd name="connsiteY112" fmla="*/ 832104 h 6035040"/>
              <a:gd name="connsiteX113" fmla="*/ 7068312 w 7342632"/>
              <a:gd name="connsiteY113" fmla="*/ 768096 h 6035040"/>
              <a:gd name="connsiteX114" fmla="*/ 7086600 w 7342632"/>
              <a:gd name="connsiteY114" fmla="*/ 740664 h 6035040"/>
              <a:gd name="connsiteX115" fmla="*/ 7141464 w 7342632"/>
              <a:gd name="connsiteY115" fmla="*/ 685800 h 6035040"/>
              <a:gd name="connsiteX116" fmla="*/ 7150608 w 7342632"/>
              <a:gd name="connsiteY116" fmla="*/ 658368 h 6035040"/>
              <a:gd name="connsiteX117" fmla="*/ 7178040 w 7342632"/>
              <a:gd name="connsiteY117" fmla="*/ 594360 h 6035040"/>
              <a:gd name="connsiteX118" fmla="*/ 7196328 w 7342632"/>
              <a:gd name="connsiteY118" fmla="*/ 502920 h 6035040"/>
              <a:gd name="connsiteX119" fmla="*/ 7205472 w 7342632"/>
              <a:gd name="connsiteY119" fmla="*/ 466344 h 6035040"/>
              <a:gd name="connsiteX120" fmla="*/ 7223760 w 7342632"/>
              <a:gd name="connsiteY120" fmla="*/ 347472 h 6035040"/>
              <a:gd name="connsiteX121" fmla="*/ 7242048 w 7342632"/>
              <a:gd name="connsiteY121" fmla="*/ 320040 h 6035040"/>
              <a:gd name="connsiteX122" fmla="*/ 7260336 w 7342632"/>
              <a:gd name="connsiteY122" fmla="*/ 283464 h 6035040"/>
              <a:gd name="connsiteX123" fmla="*/ 7269480 w 7342632"/>
              <a:gd name="connsiteY123" fmla="*/ 256032 h 6035040"/>
              <a:gd name="connsiteX124" fmla="*/ 7296912 w 7342632"/>
              <a:gd name="connsiteY124" fmla="*/ 219456 h 6035040"/>
              <a:gd name="connsiteX125" fmla="*/ 7315200 w 7342632"/>
              <a:gd name="connsiteY125" fmla="*/ 82296 h 6035040"/>
              <a:gd name="connsiteX126" fmla="*/ 7333488 w 7342632"/>
              <a:gd name="connsiteY126" fmla="*/ 9144 h 6035040"/>
              <a:gd name="connsiteX127" fmla="*/ 7342632 w 7342632"/>
              <a:gd name="connsiteY127" fmla="*/ 0 h 6035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7342632" h="6035040">
                <a:moveTo>
                  <a:pt x="0" y="6035040"/>
                </a:moveTo>
                <a:cubicBezTo>
                  <a:pt x="12192" y="6025896"/>
                  <a:pt x="22650" y="6013798"/>
                  <a:pt x="36576" y="6007608"/>
                </a:cubicBezTo>
                <a:cubicBezTo>
                  <a:pt x="50778" y="6001296"/>
                  <a:pt x="67124" y="6001835"/>
                  <a:pt x="82296" y="5998464"/>
                </a:cubicBezTo>
                <a:cubicBezTo>
                  <a:pt x="94564" y="5995738"/>
                  <a:pt x="106476" y="5991386"/>
                  <a:pt x="118872" y="5989320"/>
                </a:cubicBezTo>
                <a:cubicBezTo>
                  <a:pt x="207752" y="5974507"/>
                  <a:pt x="292277" y="5975402"/>
                  <a:pt x="384048" y="5971032"/>
                </a:cubicBezTo>
                <a:cubicBezTo>
                  <a:pt x="402336" y="5964936"/>
                  <a:pt x="420009" y="5956525"/>
                  <a:pt x="438912" y="5952744"/>
                </a:cubicBezTo>
                <a:cubicBezTo>
                  <a:pt x="454152" y="5949696"/>
                  <a:pt x="469638" y="5947689"/>
                  <a:pt x="484632" y="5943600"/>
                </a:cubicBezTo>
                <a:cubicBezTo>
                  <a:pt x="503230" y="5938528"/>
                  <a:pt x="520794" y="5929987"/>
                  <a:pt x="539496" y="5925312"/>
                </a:cubicBezTo>
                <a:lnTo>
                  <a:pt x="576072" y="5916168"/>
                </a:lnTo>
                <a:cubicBezTo>
                  <a:pt x="585216" y="5910072"/>
                  <a:pt x="593403" y="5902209"/>
                  <a:pt x="603504" y="5897880"/>
                </a:cubicBezTo>
                <a:cubicBezTo>
                  <a:pt x="644521" y="5880301"/>
                  <a:pt x="631924" y="5897386"/>
                  <a:pt x="667512" y="5879592"/>
                </a:cubicBezTo>
                <a:cubicBezTo>
                  <a:pt x="677342" y="5874677"/>
                  <a:pt x="684740" y="5865385"/>
                  <a:pt x="694944" y="5861304"/>
                </a:cubicBezTo>
                <a:cubicBezTo>
                  <a:pt x="748762" y="5839777"/>
                  <a:pt x="793334" y="5839944"/>
                  <a:pt x="850392" y="5824728"/>
                </a:cubicBezTo>
                <a:cubicBezTo>
                  <a:pt x="866252" y="5820499"/>
                  <a:pt x="880686" y="5812049"/>
                  <a:pt x="896112" y="5806440"/>
                </a:cubicBezTo>
                <a:cubicBezTo>
                  <a:pt x="914229" y="5799852"/>
                  <a:pt x="932859" y="5794740"/>
                  <a:pt x="950976" y="5788152"/>
                </a:cubicBezTo>
                <a:cubicBezTo>
                  <a:pt x="966402" y="5782543"/>
                  <a:pt x="981008" y="5774691"/>
                  <a:pt x="996696" y="5769864"/>
                </a:cubicBezTo>
                <a:cubicBezTo>
                  <a:pt x="1020719" y="5762472"/>
                  <a:pt x="1047367" y="5762816"/>
                  <a:pt x="1069848" y="5751576"/>
                </a:cubicBezTo>
                <a:cubicBezTo>
                  <a:pt x="1094232" y="5739384"/>
                  <a:pt x="1117137" y="5723621"/>
                  <a:pt x="1143000" y="5715000"/>
                </a:cubicBezTo>
                <a:cubicBezTo>
                  <a:pt x="1161288" y="5708904"/>
                  <a:pt x="1179400" y="5702251"/>
                  <a:pt x="1197864" y="5696712"/>
                </a:cubicBezTo>
                <a:cubicBezTo>
                  <a:pt x="1209901" y="5693101"/>
                  <a:pt x="1222518" y="5691542"/>
                  <a:pt x="1234440" y="5687568"/>
                </a:cubicBezTo>
                <a:cubicBezTo>
                  <a:pt x="1312254" y="5661630"/>
                  <a:pt x="1248843" y="5672990"/>
                  <a:pt x="1344168" y="5650992"/>
                </a:cubicBezTo>
                <a:cubicBezTo>
                  <a:pt x="1362233" y="5646823"/>
                  <a:pt x="1381045" y="5646345"/>
                  <a:pt x="1399032" y="5641848"/>
                </a:cubicBezTo>
                <a:cubicBezTo>
                  <a:pt x="1442086" y="5631084"/>
                  <a:pt x="1484376" y="5617464"/>
                  <a:pt x="1527048" y="5605272"/>
                </a:cubicBezTo>
                <a:cubicBezTo>
                  <a:pt x="1548384" y="5599176"/>
                  <a:pt x="1571790" y="5597993"/>
                  <a:pt x="1591056" y="5586984"/>
                </a:cubicBezTo>
                <a:cubicBezTo>
                  <a:pt x="1612392" y="5574792"/>
                  <a:pt x="1631922" y="5558673"/>
                  <a:pt x="1655064" y="5550408"/>
                </a:cubicBezTo>
                <a:cubicBezTo>
                  <a:pt x="1675361" y="5543159"/>
                  <a:pt x="1697813" y="5544807"/>
                  <a:pt x="1719072" y="5541264"/>
                </a:cubicBezTo>
                <a:cubicBezTo>
                  <a:pt x="1734402" y="5538709"/>
                  <a:pt x="1749552" y="5535168"/>
                  <a:pt x="1764792" y="5532120"/>
                </a:cubicBezTo>
                <a:cubicBezTo>
                  <a:pt x="1795272" y="5516880"/>
                  <a:pt x="1827878" y="5505303"/>
                  <a:pt x="1856232" y="5486400"/>
                </a:cubicBezTo>
                <a:cubicBezTo>
                  <a:pt x="1865376" y="5480304"/>
                  <a:pt x="1873563" y="5472441"/>
                  <a:pt x="1883664" y="5468112"/>
                </a:cubicBezTo>
                <a:cubicBezTo>
                  <a:pt x="1895215" y="5463162"/>
                  <a:pt x="1908639" y="5463802"/>
                  <a:pt x="1920240" y="5458968"/>
                </a:cubicBezTo>
                <a:cubicBezTo>
                  <a:pt x="2040775" y="5408745"/>
                  <a:pt x="1947572" y="5431556"/>
                  <a:pt x="2039112" y="5413248"/>
                </a:cubicBezTo>
                <a:cubicBezTo>
                  <a:pt x="2051304" y="5404104"/>
                  <a:pt x="2062270" y="5393041"/>
                  <a:pt x="2075688" y="5385816"/>
                </a:cubicBezTo>
                <a:cubicBezTo>
                  <a:pt x="2102119" y="5371584"/>
                  <a:pt x="2130781" y="5361935"/>
                  <a:pt x="2157984" y="5349240"/>
                </a:cubicBezTo>
                <a:cubicBezTo>
                  <a:pt x="2176512" y="5340593"/>
                  <a:pt x="2194234" y="5330269"/>
                  <a:pt x="2212848" y="5321808"/>
                </a:cubicBezTo>
                <a:cubicBezTo>
                  <a:pt x="2278821" y="5291820"/>
                  <a:pt x="2288023" y="5302171"/>
                  <a:pt x="2368296" y="5248656"/>
                </a:cubicBezTo>
                <a:cubicBezTo>
                  <a:pt x="2489947" y="5167556"/>
                  <a:pt x="2363076" y="5246694"/>
                  <a:pt x="2468880" y="5193792"/>
                </a:cubicBezTo>
                <a:cubicBezTo>
                  <a:pt x="2557734" y="5149365"/>
                  <a:pt x="2474601" y="5184873"/>
                  <a:pt x="2551176" y="5138928"/>
                </a:cubicBezTo>
                <a:cubicBezTo>
                  <a:pt x="2716743" y="5039588"/>
                  <a:pt x="2538521" y="5149828"/>
                  <a:pt x="2633472" y="5102352"/>
                </a:cubicBezTo>
                <a:cubicBezTo>
                  <a:pt x="2649368" y="5094404"/>
                  <a:pt x="2663589" y="5083431"/>
                  <a:pt x="2679192" y="5074920"/>
                </a:cubicBezTo>
                <a:cubicBezTo>
                  <a:pt x="2697142" y="5065129"/>
                  <a:pt x="2716182" y="5057418"/>
                  <a:pt x="2734056" y="5047488"/>
                </a:cubicBezTo>
                <a:cubicBezTo>
                  <a:pt x="2805559" y="5007764"/>
                  <a:pt x="2701315" y="5052895"/>
                  <a:pt x="2816352" y="5001768"/>
                </a:cubicBezTo>
                <a:cubicBezTo>
                  <a:pt x="2825160" y="4997853"/>
                  <a:pt x="2835163" y="4996935"/>
                  <a:pt x="2843784" y="4992624"/>
                </a:cubicBezTo>
                <a:cubicBezTo>
                  <a:pt x="2859680" y="4984676"/>
                  <a:pt x="2874433" y="4974612"/>
                  <a:pt x="2889504" y="4965192"/>
                </a:cubicBezTo>
                <a:cubicBezTo>
                  <a:pt x="2916033" y="4948611"/>
                  <a:pt x="2922294" y="4940323"/>
                  <a:pt x="2953512" y="4928616"/>
                </a:cubicBezTo>
                <a:cubicBezTo>
                  <a:pt x="2965279" y="4924203"/>
                  <a:pt x="2977896" y="4922520"/>
                  <a:pt x="2990088" y="4919472"/>
                </a:cubicBezTo>
                <a:cubicBezTo>
                  <a:pt x="3011424" y="4907280"/>
                  <a:pt x="3033964" y="4896988"/>
                  <a:pt x="3054096" y="4882896"/>
                </a:cubicBezTo>
                <a:cubicBezTo>
                  <a:pt x="3114627" y="4840525"/>
                  <a:pt x="3045452" y="4864483"/>
                  <a:pt x="3118104" y="4846320"/>
                </a:cubicBezTo>
                <a:cubicBezTo>
                  <a:pt x="3124200" y="4837176"/>
                  <a:pt x="3128048" y="4826040"/>
                  <a:pt x="3136392" y="4818888"/>
                </a:cubicBezTo>
                <a:cubicBezTo>
                  <a:pt x="3163875" y="4795331"/>
                  <a:pt x="3179624" y="4792285"/>
                  <a:pt x="3209544" y="4782312"/>
                </a:cubicBezTo>
                <a:cubicBezTo>
                  <a:pt x="3235983" y="4755873"/>
                  <a:pt x="3249205" y="4740631"/>
                  <a:pt x="3282696" y="4718304"/>
                </a:cubicBezTo>
                <a:cubicBezTo>
                  <a:pt x="3343189" y="4677975"/>
                  <a:pt x="3354884" y="4681876"/>
                  <a:pt x="3419856" y="4645152"/>
                </a:cubicBezTo>
                <a:cubicBezTo>
                  <a:pt x="3466273" y="4618916"/>
                  <a:pt x="3511472" y="4590579"/>
                  <a:pt x="3557016" y="4562856"/>
                </a:cubicBezTo>
                <a:cubicBezTo>
                  <a:pt x="3581578" y="4547905"/>
                  <a:pt x="3606769" y="4533849"/>
                  <a:pt x="3630168" y="4517136"/>
                </a:cubicBezTo>
                <a:cubicBezTo>
                  <a:pt x="3651504" y="4501896"/>
                  <a:pt x="3671323" y="4484271"/>
                  <a:pt x="3694176" y="4471416"/>
                </a:cubicBezTo>
                <a:cubicBezTo>
                  <a:pt x="3720340" y="4456699"/>
                  <a:pt x="3750470" y="4449841"/>
                  <a:pt x="3776472" y="4434840"/>
                </a:cubicBezTo>
                <a:cubicBezTo>
                  <a:pt x="3829931" y="4403998"/>
                  <a:pt x="3879584" y="4366966"/>
                  <a:pt x="3931920" y="4334256"/>
                </a:cubicBezTo>
                <a:cubicBezTo>
                  <a:pt x="3952759" y="4321232"/>
                  <a:pt x="3976739" y="4313031"/>
                  <a:pt x="3995928" y="4297680"/>
                </a:cubicBezTo>
                <a:cubicBezTo>
                  <a:pt x="4011168" y="4285488"/>
                  <a:pt x="4026035" y="4272814"/>
                  <a:pt x="4041648" y="4261104"/>
                </a:cubicBezTo>
                <a:cubicBezTo>
                  <a:pt x="4050440" y="4254510"/>
                  <a:pt x="4060137" y="4249204"/>
                  <a:pt x="4069080" y="4242816"/>
                </a:cubicBezTo>
                <a:cubicBezTo>
                  <a:pt x="4081481" y="4233958"/>
                  <a:pt x="4093255" y="4224242"/>
                  <a:pt x="4105656" y="4215384"/>
                </a:cubicBezTo>
                <a:cubicBezTo>
                  <a:pt x="4114599" y="4208996"/>
                  <a:pt x="4124744" y="4204248"/>
                  <a:pt x="4133088" y="4197096"/>
                </a:cubicBezTo>
                <a:cubicBezTo>
                  <a:pt x="4146179" y="4185875"/>
                  <a:pt x="4155318" y="4170084"/>
                  <a:pt x="4169664" y="4160520"/>
                </a:cubicBezTo>
                <a:cubicBezTo>
                  <a:pt x="4183321" y="4151415"/>
                  <a:pt x="4200703" y="4149573"/>
                  <a:pt x="4215384" y="4142232"/>
                </a:cubicBezTo>
                <a:cubicBezTo>
                  <a:pt x="4231280" y="4134284"/>
                  <a:pt x="4246642" y="4125130"/>
                  <a:pt x="4261104" y="4114800"/>
                </a:cubicBezTo>
                <a:cubicBezTo>
                  <a:pt x="4289383" y="4094600"/>
                  <a:pt x="4312316" y="4066334"/>
                  <a:pt x="4343400" y="4050792"/>
                </a:cubicBezTo>
                <a:cubicBezTo>
                  <a:pt x="4373880" y="4035552"/>
                  <a:pt x="4407110" y="4024879"/>
                  <a:pt x="4434840" y="4005072"/>
                </a:cubicBezTo>
                <a:cubicBezTo>
                  <a:pt x="4509074" y="3952047"/>
                  <a:pt x="4473411" y="3965711"/>
                  <a:pt x="4535424" y="3950208"/>
                </a:cubicBezTo>
                <a:lnTo>
                  <a:pt x="4617720" y="3895344"/>
                </a:lnTo>
                <a:cubicBezTo>
                  <a:pt x="4626864" y="3889248"/>
                  <a:pt x="4637381" y="3884827"/>
                  <a:pt x="4645152" y="3877056"/>
                </a:cubicBezTo>
                <a:cubicBezTo>
                  <a:pt x="4654296" y="3867912"/>
                  <a:pt x="4662650" y="3857903"/>
                  <a:pt x="4672584" y="3849624"/>
                </a:cubicBezTo>
                <a:cubicBezTo>
                  <a:pt x="4703736" y="3823664"/>
                  <a:pt x="4703650" y="3836846"/>
                  <a:pt x="4736592" y="3803904"/>
                </a:cubicBezTo>
                <a:cubicBezTo>
                  <a:pt x="4788290" y="3752206"/>
                  <a:pt x="4712989" y="3797418"/>
                  <a:pt x="4791456" y="3758184"/>
                </a:cubicBezTo>
                <a:cubicBezTo>
                  <a:pt x="4825016" y="3707844"/>
                  <a:pt x="4790329" y="3748650"/>
                  <a:pt x="4855464" y="3712464"/>
                </a:cubicBezTo>
                <a:cubicBezTo>
                  <a:pt x="4868786" y="3705063"/>
                  <a:pt x="4879555" y="3693772"/>
                  <a:pt x="4892040" y="3685032"/>
                </a:cubicBezTo>
                <a:cubicBezTo>
                  <a:pt x="5012545" y="3600679"/>
                  <a:pt x="4891124" y="3693975"/>
                  <a:pt x="4983480" y="3611880"/>
                </a:cubicBezTo>
                <a:cubicBezTo>
                  <a:pt x="4998067" y="3598914"/>
                  <a:pt x="5015400" y="3589104"/>
                  <a:pt x="5029200" y="3575304"/>
                </a:cubicBezTo>
                <a:cubicBezTo>
                  <a:pt x="5036971" y="3567533"/>
                  <a:pt x="5040453" y="3556315"/>
                  <a:pt x="5047488" y="3547872"/>
                </a:cubicBezTo>
                <a:cubicBezTo>
                  <a:pt x="5055767" y="3537938"/>
                  <a:pt x="5066641" y="3530374"/>
                  <a:pt x="5074920" y="3520440"/>
                </a:cubicBezTo>
                <a:cubicBezTo>
                  <a:pt x="5081955" y="3511997"/>
                  <a:pt x="5085782" y="3501109"/>
                  <a:pt x="5093208" y="3493008"/>
                </a:cubicBezTo>
                <a:cubicBezTo>
                  <a:pt x="5119423" y="3464410"/>
                  <a:pt x="5151269" y="3441006"/>
                  <a:pt x="5175504" y="3410712"/>
                </a:cubicBezTo>
                <a:cubicBezTo>
                  <a:pt x="5279873" y="3280250"/>
                  <a:pt x="5147903" y="3441763"/>
                  <a:pt x="5248656" y="3328416"/>
                </a:cubicBezTo>
                <a:cubicBezTo>
                  <a:pt x="5261622" y="3313829"/>
                  <a:pt x="5271432" y="3296496"/>
                  <a:pt x="5285232" y="3282696"/>
                </a:cubicBezTo>
                <a:cubicBezTo>
                  <a:pt x="5305103" y="3262825"/>
                  <a:pt x="5328591" y="3246892"/>
                  <a:pt x="5349240" y="3227832"/>
                </a:cubicBezTo>
                <a:cubicBezTo>
                  <a:pt x="5368244" y="3210290"/>
                  <a:pt x="5384360" y="3189674"/>
                  <a:pt x="5404104" y="3172968"/>
                </a:cubicBezTo>
                <a:cubicBezTo>
                  <a:pt x="5424120" y="3156031"/>
                  <a:pt x="5448846" y="3145032"/>
                  <a:pt x="5468112" y="3127248"/>
                </a:cubicBezTo>
                <a:cubicBezTo>
                  <a:pt x="5488761" y="3108188"/>
                  <a:pt x="5502384" y="3082361"/>
                  <a:pt x="5522976" y="3063240"/>
                </a:cubicBezTo>
                <a:cubicBezTo>
                  <a:pt x="5634006" y="2960141"/>
                  <a:pt x="5593982" y="3052028"/>
                  <a:pt x="5733288" y="2889504"/>
                </a:cubicBezTo>
                <a:cubicBezTo>
                  <a:pt x="5751576" y="2868168"/>
                  <a:pt x="5768978" y="2846040"/>
                  <a:pt x="5788152" y="2825496"/>
                </a:cubicBezTo>
                <a:cubicBezTo>
                  <a:pt x="5811681" y="2800286"/>
                  <a:pt x="5838719" y="2778403"/>
                  <a:pt x="5861304" y="2752344"/>
                </a:cubicBezTo>
                <a:cubicBezTo>
                  <a:pt x="5878476" y="2732530"/>
                  <a:pt x="5890825" y="2708953"/>
                  <a:pt x="5907024" y="2688336"/>
                </a:cubicBezTo>
                <a:cubicBezTo>
                  <a:pt x="5924386" y="2666240"/>
                  <a:pt x="5945027" y="2646809"/>
                  <a:pt x="5961888" y="2624328"/>
                </a:cubicBezTo>
                <a:cubicBezTo>
                  <a:pt x="6040959" y="2518901"/>
                  <a:pt x="5991315" y="2561959"/>
                  <a:pt x="6080760" y="2459736"/>
                </a:cubicBezTo>
                <a:cubicBezTo>
                  <a:pt x="6192371" y="2332181"/>
                  <a:pt x="6099720" y="2464433"/>
                  <a:pt x="6208776" y="2313432"/>
                </a:cubicBezTo>
                <a:cubicBezTo>
                  <a:pt x="6228079" y="2286705"/>
                  <a:pt x="6244627" y="2258071"/>
                  <a:pt x="6263640" y="2231136"/>
                </a:cubicBezTo>
                <a:cubicBezTo>
                  <a:pt x="6281217" y="2206235"/>
                  <a:pt x="6301236" y="2183101"/>
                  <a:pt x="6318504" y="2157984"/>
                </a:cubicBezTo>
                <a:cubicBezTo>
                  <a:pt x="6334794" y="2134289"/>
                  <a:pt x="6346971" y="2107836"/>
                  <a:pt x="6364224" y="2084832"/>
                </a:cubicBezTo>
                <a:cubicBezTo>
                  <a:pt x="6383664" y="2058911"/>
                  <a:pt x="6409547" y="2038150"/>
                  <a:pt x="6428232" y="2011680"/>
                </a:cubicBezTo>
                <a:cubicBezTo>
                  <a:pt x="6446329" y="1986043"/>
                  <a:pt x="6455495" y="1954763"/>
                  <a:pt x="6473952" y="1929384"/>
                </a:cubicBezTo>
                <a:cubicBezTo>
                  <a:pt x="6504481" y="1887406"/>
                  <a:pt x="6546468" y="1854174"/>
                  <a:pt x="6574536" y="1810512"/>
                </a:cubicBezTo>
                <a:cubicBezTo>
                  <a:pt x="6594036" y="1780179"/>
                  <a:pt x="6661050" y="1674371"/>
                  <a:pt x="6693408" y="1627632"/>
                </a:cubicBezTo>
                <a:cubicBezTo>
                  <a:pt x="6708333" y="1606074"/>
                  <a:pt x="6726119" y="1586389"/>
                  <a:pt x="6739128" y="1563624"/>
                </a:cubicBezTo>
                <a:cubicBezTo>
                  <a:pt x="6751320" y="1542288"/>
                  <a:pt x="6762073" y="1520063"/>
                  <a:pt x="6775704" y="1499616"/>
                </a:cubicBezTo>
                <a:cubicBezTo>
                  <a:pt x="6786530" y="1483377"/>
                  <a:pt x="6801088" y="1469885"/>
                  <a:pt x="6812280" y="1453896"/>
                </a:cubicBezTo>
                <a:cubicBezTo>
                  <a:pt x="6822472" y="1439336"/>
                  <a:pt x="6830292" y="1423247"/>
                  <a:pt x="6839712" y="1408176"/>
                </a:cubicBezTo>
                <a:cubicBezTo>
                  <a:pt x="6845537" y="1398857"/>
                  <a:pt x="6851904" y="1389888"/>
                  <a:pt x="6858000" y="1380744"/>
                </a:cubicBezTo>
                <a:cubicBezTo>
                  <a:pt x="6861048" y="1365504"/>
                  <a:pt x="6862229" y="1349768"/>
                  <a:pt x="6867144" y="1335024"/>
                </a:cubicBezTo>
                <a:cubicBezTo>
                  <a:pt x="6888153" y="1271997"/>
                  <a:pt x="6879640" y="1323190"/>
                  <a:pt x="6903720" y="1271016"/>
                </a:cubicBezTo>
                <a:cubicBezTo>
                  <a:pt x="6917477" y="1241210"/>
                  <a:pt x="6929915" y="1210719"/>
                  <a:pt x="6940296" y="1179576"/>
                </a:cubicBezTo>
                <a:cubicBezTo>
                  <a:pt x="6943344" y="1170432"/>
                  <a:pt x="6945129" y="1160765"/>
                  <a:pt x="6949440" y="1152144"/>
                </a:cubicBezTo>
                <a:cubicBezTo>
                  <a:pt x="6954355" y="1142314"/>
                  <a:pt x="6961632" y="1133856"/>
                  <a:pt x="6967728" y="1124712"/>
                </a:cubicBezTo>
                <a:cubicBezTo>
                  <a:pt x="6970776" y="1054608"/>
                  <a:pt x="6969652" y="984198"/>
                  <a:pt x="6976872" y="914400"/>
                </a:cubicBezTo>
                <a:cubicBezTo>
                  <a:pt x="6978856" y="895225"/>
                  <a:pt x="6981529" y="873167"/>
                  <a:pt x="6995160" y="859536"/>
                </a:cubicBezTo>
                <a:lnTo>
                  <a:pt x="7022592" y="832104"/>
                </a:lnTo>
                <a:cubicBezTo>
                  <a:pt x="7039394" y="781699"/>
                  <a:pt x="7020976" y="823322"/>
                  <a:pt x="7068312" y="768096"/>
                </a:cubicBezTo>
                <a:cubicBezTo>
                  <a:pt x="7075464" y="759752"/>
                  <a:pt x="7079299" y="748878"/>
                  <a:pt x="7086600" y="740664"/>
                </a:cubicBezTo>
                <a:cubicBezTo>
                  <a:pt x="7103783" y="721334"/>
                  <a:pt x="7141464" y="685800"/>
                  <a:pt x="7141464" y="685800"/>
                </a:cubicBezTo>
                <a:cubicBezTo>
                  <a:pt x="7144512" y="676656"/>
                  <a:pt x="7146811" y="667227"/>
                  <a:pt x="7150608" y="658368"/>
                </a:cubicBezTo>
                <a:cubicBezTo>
                  <a:pt x="7164288" y="626448"/>
                  <a:pt x="7170892" y="625335"/>
                  <a:pt x="7178040" y="594360"/>
                </a:cubicBezTo>
                <a:cubicBezTo>
                  <a:pt x="7185029" y="564072"/>
                  <a:pt x="7188789" y="533076"/>
                  <a:pt x="7196328" y="502920"/>
                </a:cubicBezTo>
                <a:lnTo>
                  <a:pt x="7205472" y="466344"/>
                </a:lnTo>
                <a:cubicBezTo>
                  <a:pt x="7207308" y="449823"/>
                  <a:pt x="7211881" y="375189"/>
                  <a:pt x="7223760" y="347472"/>
                </a:cubicBezTo>
                <a:cubicBezTo>
                  <a:pt x="7228089" y="337371"/>
                  <a:pt x="7236596" y="329582"/>
                  <a:pt x="7242048" y="320040"/>
                </a:cubicBezTo>
                <a:cubicBezTo>
                  <a:pt x="7248811" y="308205"/>
                  <a:pt x="7254966" y="295993"/>
                  <a:pt x="7260336" y="283464"/>
                </a:cubicBezTo>
                <a:cubicBezTo>
                  <a:pt x="7264133" y="274605"/>
                  <a:pt x="7264698" y="264401"/>
                  <a:pt x="7269480" y="256032"/>
                </a:cubicBezTo>
                <a:cubicBezTo>
                  <a:pt x="7277041" y="242800"/>
                  <a:pt x="7287768" y="231648"/>
                  <a:pt x="7296912" y="219456"/>
                </a:cubicBezTo>
                <a:cubicBezTo>
                  <a:pt x="7310761" y="67120"/>
                  <a:pt x="7296559" y="166179"/>
                  <a:pt x="7315200" y="82296"/>
                </a:cubicBezTo>
                <a:cubicBezTo>
                  <a:pt x="7319374" y="63515"/>
                  <a:pt x="7323684" y="28752"/>
                  <a:pt x="7333488" y="9144"/>
                </a:cubicBezTo>
                <a:cubicBezTo>
                  <a:pt x="7335416" y="5289"/>
                  <a:pt x="7339584" y="3048"/>
                  <a:pt x="7342632" y="0"/>
                </a:cubicBezTo>
              </a:path>
            </a:pathLst>
          </a:cu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720080"/>
          </a:xfrm>
        </p:spPr>
        <p:txBody>
          <a:bodyPr>
            <a:normAutofit fontScale="90000"/>
          </a:bodyPr>
          <a:lstStyle/>
          <a:p>
            <a:r>
              <a:rPr lang="en-US" smtClean="0"/>
              <a:t>DQI during projects: pitfalls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51520" y="1601416"/>
            <a:ext cx="8712968" cy="5256584"/>
          </a:xfrm>
        </p:spPr>
        <p:txBody>
          <a:bodyPr>
            <a:normAutofit fontScale="92500" lnSpcReduction="20000"/>
          </a:bodyPr>
          <a:lstStyle/>
          <a:p>
            <a:r>
              <a:rPr lang="en-US" smtClean="0">
                <a:solidFill>
                  <a:srgbClr val="FF0000"/>
                </a:solidFill>
              </a:rPr>
              <a:t>Focussing on immediate </a:t>
            </a:r>
            <a:r>
              <a:rPr lang="en-US" u="sng" smtClean="0">
                <a:solidFill>
                  <a:srgbClr val="FF0000"/>
                </a:solidFill>
              </a:rPr>
              <a:t>results</a:t>
            </a:r>
            <a:r>
              <a:rPr lang="en-US" smtClean="0">
                <a:solidFill>
                  <a:srgbClr val="FF0000"/>
                </a:solidFill>
              </a:rPr>
              <a:t/>
            </a:r>
            <a:br>
              <a:rPr lang="en-US" smtClean="0">
                <a:solidFill>
                  <a:srgbClr val="FF0000"/>
                </a:solidFill>
              </a:rPr>
            </a:br>
            <a:r>
              <a:rPr lang="en-US" smtClean="0">
                <a:solidFill>
                  <a:srgbClr val="FF0000"/>
                </a:solidFill>
              </a:rPr>
              <a:t>rather than on steady </a:t>
            </a:r>
            <a:r>
              <a:rPr lang="en-US" u="sng" smtClean="0">
                <a:solidFill>
                  <a:srgbClr val="FF0000"/>
                </a:solidFill>
              </a:rPr>
              <a:t>effort</a:t>
            </a:r>
          </a:p>
          <a:p>
            <a:endParaRPr lang="en-US" u="sng" smtClean="0"/>
          </a:p>
          <a:p>
            <a:r>
              <a:rPr lang="en-US" smtClean="0"/>
              <a:t>Enforcing lowest common denominator </a:t>
            </a:r>
            <a:r>
              <a:rPr lang="en-US" smtClean="0"/>
              <a:t>coding </a:t>
            </a:r>
            <a:r>
              <a:rPr lang="en-US" smtClean="0"/>
              <a:t>practices</a:t>
            </a:r>
          </a:p>
          <a:p>
            <a:endParaRPr lang="en-US" smtClean="0"/>
          </a:p>
          <a:p>
            <a:r>
              <a:rPr lang="en-US" smtClean="0"/>
              <a:t>Refactoring time proven modules just because they aren’t following your favorite programming paradigm</a:t>
            </a:r>
          </a:p>
          <a:p>
            <a:endParaRPr lang="en-US" smtClean="0"/>
          </a:p>
          <a:p>
            <a:r>
              <a:rPr lang="en-US" smtClean="0"/>
              <a:t>Getting carried away by notational elegance: function chaining, operator overloading with copy on return, template metaprogramming that (almost) trips compiler</a:t>
            </a:r>
          </a:p>
          <a:p>
            <a:endParaRPr lang="en-US" smtClean="0"/>
          </a:p>
          <a:p>
            <a:r>
              <a:rPr lang="en-US" smtClean="0"/>
              <a:t>Having </a:t>
            </a:r>
            <a:r>
              <a:rPr lang="en-US" sz="2400" smtClean="0"/>
              <a:t>domain experts</a:t>
            </a:r>
            <a:r>
              <a:rPr lang="en-US" smtClean="0"/>
              <a:t> spend time on things like GUI coding, error handling and database integrity</a:t>
            </a:r>
          </a:p>
          <a:p>
            <a:endParaRPr lang="en-US" smtClean="0"/>
          </a:p>
          <a:p>
            <a:endParaRPr lang="en-US" smtClean="0"/>
          </a:p>
          <a:p>
            <a:endParaRPr lang="en-US"/>
          </a:p>
        </p:txBody>
      </p:sp>
      <p:pic>
        <p:nvPicPr>
          <p:cNvPr id="5122" name="Picture 2" descr="Image result for climb mountain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20072" y="836712"/>
            <a:ext cx="2208246" cy="165618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188640"/>
            <a:ext cx="8136904" cy="764704"/>
          </a:xfrm>
        </p:spPr>
        <p:txBody>
          <a:bodyPr>
            <a:normAutofit/>
          </a:bodyPr>
          <a:lstStyle/>
          <a:p>
            <a:r>
              <a:rPr lang="en-US" sz="4400" smtClean="0"/>
              <a:t>After a release </a:t>
            </a:r>
            <a:r>
              <a:rPr lang="en-US" sz="3200" smtClean="0"/>
              <a:t>(10% of budget hours)</a:t>
            </a:r>
            <a:endParaRPr lang="en-US" sz="440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39816"/>
          </a:xfrm>
        </p:spPr>
        <p:txBody>
          <a:bodyPr/>
          <a:lstStyle/>
          <a:p>
            <a:r>
              <a:rPr lang="en-US" smtClean="0"/>
              <a:t>Have the </a:t>
            </a:r>
            <a:r>
              <a:rPr lang="en-US" smtClean="0">
                <a:solidFill>
                  <a:srgbClr val="FF0000"/>
                </a:solidFill>
              </a:rPr>
              <a:t>whole team clean the toilets</a:t>
            </a:r>
            <a:r>
              <a:rPr lang="en-US" smtClean="0"/>
              <a:t>, e.g.:</a:t>
            </a:r>
          </a:p>
          <a:p>
            <a:pPr lvl="1"/>
            <a:r>
              <a:rPr lang="en-US" smtClean="0"/>
              <a:t>Replace returning error level by exceptions</a:t>
            </a:r>
          </a:p>
          <a:p>
            <a:pPr lvl="1"/>
            <a:r>
              <a:rPr lang="en-US" smtClean="0"/>
              <a:t>Change containers to STL behind tensor facade</a:t>
            </a:r>
          </a:p>
          <a:p>
            <a:pPr lvl="1"/>
            <a:r>
              <a:rPr lang="en-US" smtClean="0"/>
              <a:t>Change RAM storage order from Fortran to C</a:t>
            </a:r>
          </a:p>
          <a:p>
            <a:pPr lvl="1"/>
            <a:r>
              <a:rPr lang="en-US" smtClean="0"/>
              <a:t>Introduce move semantics for operator returns</a:t>
            </a:r>
          </a:p>
          <a:p>
            <a:pPr lvl="1"/>
            <a:r>
              <a:rPr lang="en-US" smtClean="0"/>
              <a:t>Align quantitative results c.q. document differences</a:t>
            </a:r>
          </a:p>
          <a:p>
            <a:pPr lvl="1"/>
            <a:r>
              <a:rPr lang="en-US" smtClean="0"/>
              <a:t>Repair UI flaws prioritized by user feedback</a:t>
            </a:r>
          </a:p>
          <a:p>
            <a:pPr lvl="1"/>
            <a:r>
              <a:rPr lang="en-US" smtClean="0"/>
              <a:t>Progressively replace native files by HDF5</a:t>
            </a:r>
          </a:p>
          <a:p>
            <a:pPr lvl="1"/>
            <a:endParaRPr lang="en-US" smtClean="0"/>
          </a:p>
          <a:p>
            <a:r>
              <a:rPr lang="en-US" smtClean="0"/>
              <a:t>After that: celebrate and relax!</a:t>
            </a:r>
            <a:endParaRPr lang="en-US" smtClean="0"/>
          </a:p>
        </p:txBody>
      </p:sp>
      <p:sp>
        <p:nvSpPr>
          <p:cNvPr id="4106" name="AutoShape 10" descr="Image result for bucket mo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92280" y="4149080"/>
            <a:ext cx="1771650" cy="2581275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836712"/>
          </a:xfrm>
        </p:spPr>
        <p:txBody>
          <a:bodyPr/>
          <a:lstStyle/>
          <a:p>
            <a:r>
              <a:rPr lang="en-US" smtClean="0"/>
              <a:t>DQI after release: pitfalls</a:t>
            </a:r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84639" y="2636912"/>
            <a:ext cx="3015345" cy="33386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xplosie 2 5"/>
          <p:cNvSpPr/>
          <p:nvPr/>
        </p:nvSpPr>
        <p:spPr>
          <a:xfrm>
            <a:off x="4932040" y="1988840"/>
            <a:ext cx="2736304" cy="2016224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7" name="Tekstvak 6"/>
          <p:cNvSpPr txBox="1"/>
          <p:nvPr/>
        </p:nvSpPr>
        <p:spPr>
          <a:xfrm>
            <a:off x="5436096" y="2492896"/>
            <a:ext cx="23042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sz="28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No,</a:t>
            </a:r>
          </a:p>
          <a:p>
            <a:r>
              <a:rPr lang="en-US" sz="2800" b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can’t!</a:t>
            </a:r>
            <a:endParaRPr lang="en-US" sz="2800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251520" y="1268760"/>
            <a:ext cx="8568952" cy="4608512"/>
          </a:xfrm>
        </p:spPr>
        <p:txBody>
          <a:bodyPr>
            <a:normAutofit/>
          </a:bodyPr>
          <a:lstStyle/>
          <a:p>
            <a:r>
              <a:rPr lang="en-US" smtClean="0"/>
              <a:t>Biting off more that you can chew in that 10% (Factor </a:t>
            </a:r>
            <a:r>
              <a:rPr lang="el-GR" sz="3500" smtClean="0"/>
              <a:t>π</a:t>
            </a:r>
            <a:r>
              <a:rPr lang="en-US" smtClean="0"/>
              <a:t>)</a:t>
            </a:r>
            <a:endParaRPr lang="en-US" smtClean="0"/>
          </a:p>
          <a:p>
            <a:r>
              <a:rPr lang="en-US" smtClean="0">
                <a:solidFill>
                  <a:srgbClr val="FF0000"/>
                </a:solidFill>
              </a:rPr>
              <a:t>Use that 10% for endless discussions with those few dev’s that are opposed to any change</a:t>
            </a:r>
            <a:endParaRPr lang="en-US" b="1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smtClean="0"/>
          </a:p>
          <a:p>
            <a:r>
              <a:rPr lang="en-US" smtClean="0"/>
              <a:t>Lack of coordination</a:t>
            </a:r>
            <a:endParaRPr lang="en-US" smtClean="0"/>
          </a:p>
          <a:p>
            <a:r>
              <a:rPr lang="en-US" smtClean="0"/>
              <a:t>Last minute integration testing</a:t>
            </a:r>
            <a:endParaRPr lang="en-US" smtClean="0"/>
          </a:p>
          <a:p>
            <a:pPr>
              <a:buNone/>
            </a:pPr>
            <a:endParaRPr lang="en-US" smtClean="0"/>
          </a:p>
          <a:p>
            <a:r>
              <a:rPr lang="en-US" smtClean="0"/>
              <a:t>Maintaining that 10%  too stricktly</a:t>
            </a:r>
          </a:p>
          <a:p>
            <a:r>
              <a:rPr lang="en-US" smtClean="0"/>
              <a:t>Maintaining that 10% too loosely</a:t>
            </a:r>
          </a:p>
          <a:p>
            <a:endParaRPr lang="en-US" smtClean="0"/>
          </a:p>
          <a:p>
            <a:pPr>
              <a:buNone/>
            </a:pPr>
            <a:endParaRPr lang="en-US" smtClean="0"/>
          </a:p>
          <a:p>
            <a:pPr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864096"/>
          </a:xfrm>
        </p:spPr>
        <p:txBody>
          <a:bodyPr/>
          <a:lstStyle/>
          <a:p>
            <a:r>
              <a:rPr lang="en-US" smtClean="0"/>
              <a:t>S</a:t>
            </a:r>
            <a:r>
              <a:rPr lang="en-US" smtClean="0"/>
              <a:t>igns of success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331640" y="1268760"/>
            <a:ext cx="7355160" cy="5055840"/>
          </a:xfrm>
        </p:spPr>
        <p:txBody>
          <a:bodyPr>
            <a:normAutofit fontScale="92500" lnSpcReduction="10000"/>
          </a:bodyPr>
          <a:lstStyle/>
          <a:p>
            <a:r>
              <a:rPr lang="en-US" smtClean="0"/>
              <a:t>Source code size of </a:t>
            </a:r>
            <a:r>
              <a:rPr lang="en-US" u="sng" smtClean="0"/>
              <a:t>modules shrinking </a:t>
            </a:r>
            <a:r>
              <a:rPr lang="en-US" smtClean="0"/>
              <a:t>by upto 90%</a:t>
            </a:r>
            <a:br>
              <a:rPr lang="en-US" smtClean="0"/>
            </a:br>
            <a:endParaRPr lang="en-US" smtClean="0"/>
          </a:p>
          <a:p>
            <a:r>
              <a:rPr lang="en-US" u="sng" smtClean="0">
                <a:solidFill>
                  <a:srgbClr val="FF0000"/>
                </a:solidFill>
              </a:rPr>
              <a:t>Design “comes together”</a:t>
            </a:r>
            <a:r>
              <a:rPr lang="en-US" smtClean="0"/>
              <a:t>: class hierarchies merged, enhanced use of virtual functions and polymorphism, observer pattern, stable, thin API’s</a:t>
            </a:r>
          </a:p>
          <a:p>
            <a:endParaRPr lang="en-US" smtClean="0"/>
          </a:p>
          <a:p>
            <a:r>
              <a:rPr lang="en-US" smtClean="0"/>
              <a:t>Synergy between DQI steps becomes visible, </a:t>
            </a:r>
            <a:r>
              <a:rPr lang="en-US" u="sng" smtClean="0"/>
              <a:t>process speeds up</a:t>
            </a:r>
            <a:r>
              <a:rPr lang="en-US" smtClean="0"/>
              <a:t>, developers now propose steps that were first deemed infeasible</a:t>
            </a:r>
          </a:p>
          <a:p>
            <a:endParaRPr lang="en-US" smtClean="0"/>
          </a:p>
          <a:p>
            <a:r>
              <a:rPr lang="en-US" smtClean="0"/>
              <a:t>Despite DQI overhead, new versions come quicker, have less bugs, </a:t>
            </a:r>
            <a:r>
              <a:rPr lang="en-US" u="sng" smtClean="0"/>
              <a:t>more new functionality</a:t>
            </a:r>
            <a:r>
              <a:rPr lang="en-US" smtClean="0"/>
              <a:t> and a better UI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520" y="1916832"/>
            <a:ext cx="1116924" cy="1478282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0"/>
            <a:ext cx="8229600" cy="764704"/>
          </a:xfrm>
        </p:spPr>
        <p:txBody>
          <a:bodyPr>
            <a:normAutofit fontScale="90000"/>
          </a:bodyPr>
          <a:lstStyle/>
          <a:p>
            <a:r>
              <a:rPr lang="en-US" smtClean="0"/>
              <a:t>Some lessons learned unwillingly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0" y="1313384"/>
            <a:ext cx="7920880" cy="5544616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mtClean="0"/>
              <a:t>It isn’t unethical to have </a:t>
            </a:r>
            <a:r>
              <a:rPr lang="en-US" smtClean="0"/>
              <a:t>a </a:t>
            </a:r>
            <a:r>
              <a:rPr lang="en-US" smtClean="0"/>
              <a:t>candidate </a:t>
            </a:r>
            <a:r>
              <a:rPr lang="en-US" smtClean="0"/>
              <a:t>C++ developer show and explain some of </a:t>
            </a:r>
            <a:r>
              <a:rPr lang="en-US" smtClean="0"/>
              <a:t>his/her </a:t>
            </a:r>
            <a:r>
              <a:rPr lang="en-US" smtClean="0"/>
              <a:t>code.</a:t>
            </a:r>
          </a:p>
          <a:p>
            <a:pPr>
              <a:buNone/>
            </a:pPr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Many applicants truly believe they master C++ while not being able to distinguish</a:t>
            </a:r>
            <a:r>
              <a:rPr lang="en-US" smtClean="0"/>
              <a:t> </a:t>
            </a:r>
            <a:r>
              <a:rPr lang="en-US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&amp;i = j; </a:t>
            </a:r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from</a:t>
            </a:r>
            <a:r>
              <a:rPr lang="en-US" smtClean="0"/>
              <a:t> </a:t>
            </a:r>
            <a:r>
              <a:rPr lang="en-US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i = &amp;j;</a:t>
            </a:r>
            <a:endParaRPr lang="en-US" smtClean="0">
              <a:solidFill>
                <a:schemeClr val="accent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en-US" smtClean="0"/>
          </a:p>
          <a:p>
            <a:pPr>
              <a:buNone/>
            </a:pPr>
            <a:endParaRPr lang="en-US" smtClean="0"/>
          </a:p>
          <a:p>
            <a:pPr>
              <a:buNone/>
            </a:pPr>
            <a:r>
              <a:rPr lang="en-US" smtClean="0"/>
              <a:t>Scripting languages aren’t always evil. Especially Python and C++ are a great combination.</a:t>
            </a:r>
          </a:p>
          <a:p>
            <a:pPr>
              <a:buNone/>
            </a:pPr>
            <a:r>
              <a:rPr lang="en-US" smtClean="0">
                <a:solidFill>
                  <a:srgbClr val="FF0000"/>
                </a:solidFill>
              </a:rPr>
              <a:t>Most carpenters have a </a:t>
            </a:r>
            <a:r>
              <a:rPr lang="en-US" smtClean="0">
                <a:solidFill>
                  <a:srgbClr val="FF0000"/>
                </a:solidFill>
              </a:rPr>
              <a:t>nail </a:t>
            </a:r>
            <a:r>
              <a:rPr lang="en-US" smtClean="0">
                <a:solidFill>
                  <a:srgbClr val="FF0000"/>
                </a:solidFill>
              </a:rPr>
              <a:t>tacker </a:t>
            </a:r>
            <a:r>
              <a:rPr lang="en-US" smtClean="0">
                <a:solidFill>
                  <a:srgbClr val="FF0000"/>
                </a:solidFill>
              </a:rPr>
              <a:t>to complement their screwdriver.</a:t>
            </a:r>
          </a:p>
          <a:p>
            <a:pPr>
              <a:buNone/>
            </a:pPr>
            <a:endParaRPr lang="en-US" smtClean="0">
              <a:solidFill>
                <a:schemeClr val="tx2">
                  <a:lumMod val="75000"/>
                </a:schemeClr>
              </a:solidFill>
            </a:endParaRPr>
          </a:p>
          <a:p>
            <a:pPr>
              <a:buNone/>
            </a:pPr>
            <a:endParaRPr lang="en-US" smtClean="0"/>
          </a:p>
          <a:p>
            <a:pPr>
              <a:buNone/>
            </a:pPr>
            <a:r>
              <a:rPr lang="en-US" smtClean="0"/>
              <a:t>Object orientation is truly great, but a means to an end.</a:t>
            </a:r>
          </a:p>
          <a:p>
            <a:pPr>
              <a:buNone/>
            </a:pPr>
            <a:r>
              <a:rPr lang="en-US" smtClean="0">
                <a:solidFill>
                  <a:schemeClr val="tx2">
                    <a:lumMod val="75000"/>
                  </a:schemeClr>
                </a:solidFill>
              </a:rPr>
              <a:t>For algorithm-type modules there’s nothing wrong with using top down functional decomposition.</a:t>
            </a:r>
          </a:p>
          <a:p>
            <a:pPr>
              <a:buNone/>
            </a:pPr>
            <a:endParaRPr lang="en-US" smtClean="0"/>
          </a:p>
          <a:p>
            <a:pPr>
              <a:buNone/>
            </a:pPr>
            <a:endParaRPr lang="en-US"/>
          </a:p>
        </p:txBody>
      </p:sp>
      <p:pic>
        <p:nvPicPr>
          <p:cNvPr id="31746" name="Picture 2" descr="Image result for nail tack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329" y="3068960"/>
            <a:ext cx="1512167" cy="158417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568952" cy="1052736"/>
          </a:xfrm>
        </p:spPr>
        <p:txBody>
          <a:bodyPr>
            <a:noAutofit/>
          </a:bodyPr>
          <a:lstStyle/>
          <a:p>
            <a:r>
              <a:rPr lang="en-US" sz="4000" smtClean="0"/>
              <a:t>To aleviate the need for C++ devs we have to:</a:t>
            </a:r>
            <a:endParaRPr lang="en-US" sz="400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0" y="1745432"/>
            <a:ext cx="9144000" cy="5112568"/>
          </a:xfrm>
        </p:spPr>
        <p:txBody>
          <a:bodyPr>
            <a:normAutofit/>
          </a:bodyPr>
          <a:lstStyle/>
          <a:p>
            <a:r>
              <a:rPr lang="en-US" smtClean="0"/>
              <a:t>Make clear that C++:</a:t>
            </a:r>
          </a:p>
          <a:p>
            <a:pPr lvl="1"/>
            <a:r>
              <a:rPr lang="en-US" smtClean="0">
                <a:solidFill>
                  <a:srgbClr val="FF0000"/>
                </a:solidFill>
              </a:rPr>
              <a:t>Performs exactly as good as C</a:t>
            </a:r>
            <a:r>
              <a:rPr lang="en-US" smtClean="0"/>
              <a:t>, identical code being generated in comparable cases</a:t>
            </a:r>
          </a:p>
          <a:p>
            <a:pPr lvl="1"/>
            <a:r>
              <a:rPr lang="en-US" smtClean="0"/>
              <a:t>Offers far better agility for large applications (hard, because most new dev’s consider 100 kB source fairly large)</a:t>
            </a:r>
          </a:p>
          <a:p>
            <a:pPr lvl="1"/>
            <a:r>
              <a:rPr lang="en-US" smtClean="0"/>
              <a:t>Isn’t </a:t>
            </a:r>
            <a:r>
              <a:rPr lang="en-US" u="sng" smtClean="0"/>
              <a:t>difficult</a:t>
            </a:r>
            <a:r>
              <a:rPr lang="en-US" smtClean="0"/>
              <a:t>, just </a:t>
            </a:r>
            <a:r>
              <a:rPr lang="en-US" u="sng" smtClean="0"/>
              <a:t>different</a:t>
            </a:r>
            <a:r>
              <a:rPr lang="en-US" smtClean="0"/>
              <a:t> from knitting code for web apps</a:t>
            </a:r>
          </a:p>
          <a:p>
            <a:pPr lvl="1"/>
            <a:endParaRPr lang="en-US" smtClean="0"/>
          </a:p>
          <a:p>
            <a:r>
              <a:rPr lang="en-US" sz="2400" smtClean="0">
                <a:solidFill>
                  <a:srgbClr val="0070C0"/>
                </a:solidFill>
              </a:rPr>
              <a:t>Be kind to newcomers, also on StackOverflow</a:t>
            </a:r>
          </a:p>
          <a:p>
            <a:r>
              <a:rPr lang="en-US" sz="2400" smtClean="0">
                <a:solidFill>
                  <a:srgbClr val="0070C0"/>
                </a:solidFill>
              </a:rPr>
              <a:t>Make clear Linus did his thing before C++ got standardized</a:t>
            </a:r>
          </a:p>
          <a:p>
            <a:r>
              <a:rPr lang="en-US" sz="2400" smtClean="0">
                <a:solidFill>
                  <a:srgbClr val="0070C0"/>
                </a:solidFill>
              </a:rPr>
              <a:t>Make clear e.g.  </a:t>
            </a:r>
            <a:r>
              <a:rPr lang="en-US" sz="2400" u="sng" smtClean="0">
                <a:solidFill>
                  <a:srgbClr val="0070C0"/>
                </a:solidFill>
              </a:rPr>
              <a:t>ALL</a:t>
            </a:r>
            <a:r>
              <a:rPr lang="en-US" sz="2400" smtClean="0">
                <a:solidFill>
                  <a:srgbClr val="0070C0"/>
                </a:solidFill>
              </a:rPr>
              <a:t> Arduino code is in fact C++ code</a:t>
            </a:r>
          </a:p>
          <a:p>
            <a:pPr>
              <a:buNone/>
            </a:pPr>
            <a:endParaRPr lang="en-US"/>
          </a:p>
        </p:txBody>
      </p:sp>
      <p:pic>
        <p:nvPicPr>
          <p:cNvPr id="3072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0032" y="1052736"/>
            <a:ext cx="3779912" cy="109643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1520" y="0"/>
            <a:ext cx="8892480" cy="692696"/>
          </a:xfrm>
        </p:spPr>
        <p:txBody>
          <a:bodyPr>
            <a:noAutofit/>
          </a:bodyPr>
          <a:lstStyle/>
          <a:p>
            <a:r>
              <a:rPr lang="en-US" sz="3600" smtClean="0"/>
              <a:t>Predicting is hard, especially the future! Still...</a:t>
            </a:r>
            <a:endParaRPr lang="en-US" sz="360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0" y="836712"/>
            <a:ext cx="9144000" cy="6021288"/>
          </a:xfrm>
        </p:spPr>
        <p:txBody>
          <a:bodyPr>
            <a:normAutofit fontScale="32500" lnSpcReduction="20000"/>
          </a:bodyPr>
          <a:lstStyle/>
          <a:p>
            <a:pPr algn="ctr">
              <a:buNone/>
            </a:pPr>
            <a:r>
              <a:rPr lang="en-US" sz="6200" b="1" u="sng" smtClean="0">
                <a:solidFill>
                  <a:srgbClr val="FF0000"/>
                </a:solidFill>
              </a:rPr>
              <a:t>C++ will be the basis of prominent technology stacks for at least 20 years</a:t>
            </a:r>
            <a:endParaRPr lang="en-US" sz="4300" b="1" u="sng" smtClean="0">
              <a:solidFill>
                <a:srgbClr val="FF0000"/>
              </a:solidFill>
            </a:endParaRPr>
          </a:p>
          <a:p>
            <a:pPr>
              <a:buNone/>
            </a:pPr>
            <a:endParaRPr lang="en-US" smtClean="0"/>
          </a:p>
          <a:p>
            <a:pPr>
              <a:buNone/>
            </a:pPr>
            <a:r>
              <a:rPr lang="en-US" sz="5500" smtClean="0"/>
              <a:t>When looking for math routines (NumScrypt) for  the Transcrypt Python to JS compiler,</a:t>
            </a:r>
          </a:p>
          <a:p>
            <a:pPr>
              <a:buNone/>
            </a:pPr>
            <a:r>
              <a:rPr lang="en-US" sz="5500" smtClean="0"/>
              <a:t>it turned out that that the following C++ code:</a:t>
            </a:r>
          </a:p>
          <a:p>
            <a:pPr>
              <a:buNone/>
            </a:pPr>
            <a:endParaRPr lang="en-US" sz="5500" smtClean="0"/>
          </a:p>
          <a:p>
            <a:r>
              <a:rPr lang="en-US" sz="5500" smtClean="0">
                <a:cs typeface="Arial" pitchFamily="34" charset="0"/>
              </a:rPr>
              <a:t>Is </a:t>
            </a:r>
            <a:r>
              <a:rPr lang="en-US" sz="5500" b="1" smtClean="0">
                <a:cs typeface="Arial" pitchFamily="34" charset="0"/>
              </a:rPr>
              <a:t>at the heart of mainstream math libs </a:t>
            </a:r>
            <a:r>
              <a:rPr lang="en-US" sz="5500" smtClean="0">
                <a:cs typeface="Arial" pitchFamily="34" charset="0"/>
              </a:rPr>
              <a:t>in Python/Numpy, JavaScript, C# and F#</a:t>
            </a:r>
          </a:p>
          <a:p>
            <a:r>
              <a:rPr lang="en-US" sz="5500" smtClean="0">
                <a:cs typeface="Arial" pitchFamily="34" charset="0"/>
              </a:rPr>
              <a:t>Is </a:t>
            </a:r>
            <a:r>
              <a:rPr lang="en-US" sz="5500" smtClean="0">
                <a:cs typeface="Arial" pitchFamily="34" charset="0"/>
              </a:rPr>
              <a:t>used in almost any application concerning </a:t>
            </a:r>
            <a:r>
              <a:rPr lang="en-US" sz="5500" b="1" smtClean="0">
                <a:cs typeface="Arial" pitchFamily="34" charset="0"/>
              </a:rPr>
              <a:t>the newest hype</a:t>
            </a:r>
            <a:r>
              <a:rPr lang="en-US" sz="5500" b="1" smtClean="0">
                <a:cs typeface="Arial" pitchFamily="34" charset="0"/>
              </a:rPr>
              <a:t>: </a:t>
            </a:r>
            <a:r>
              <a:rPr lang="en-US" sz="5500" b="1" smtClean="0">
                <a:cs typeface="Arial" pitchFamily="34" charset="0"/>
              </a:rPr>
              <a:t>‘deeeeeeep learning’</a:t>
            </a:r>
            <a:endParaRPr lang="en-US" sz="5500" b="1" smtClean="0">
              <a:cs typeface="Arial" pitchFamily="34" charset="0"/>
            </a:endParaRPr>
          </a:p>
          <a:p>
            <a:r>
              <a:rPr lang="en-US" sz="5500" smtClean="0">
                <a:cs typeface="Arial" pitchFamily="34" charset="0"/>
              </a:rPr>
              <a:t>W</a:t>
            </a:r>
            <a:r>
              <a:rPr lang="en-US" sz="5500" smtClean="0"/>
              <a:t>as written in the 1960’s in Fortran IV and was </a:t>
            </a:r>
            <a:r>
              <a:rPr lang="en-US" sz="5500" b="1" smtClean="0"/>
              <a:t>blindly ported </a:t>
            </a:r>
            <a:r>
              <a:rPr lang="en-US" sz="5500" smtClean="0"/>
              <a:t>via Algol 60 to C++</a:t>
            </a:r>
          </a:p>
          <a:p>
            <a:r>
              <a:rPr lang="en-US" sz="5500" smtClean="0"/>
              <a:t>Is considered the fastest, most reliable in its kind, </a:t>
            </a:r>
            <a:r>
              <a:rPr lang="en-US" sz="5500" b="1" smtClean="0"/>
              <a:t>goto considered harmless...</a:t>
            </a:r>
          </a:p>
          <a:p>
            <a:pPr>
              <a:buNone/>
            </a:pPr>
            <a:endParaRPr lang="en-US" sz="4000" smtClean="0"/>
          </a:p>
          <a:p>
            <a:pPr lvl="2">
              <a:buNone/>
            </a:pP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if (n &lt;= 0 || dflag == - 2.0) </a:t>
            </a:r>
            <a:r>
              <a:rPr lang="en-US" sz="6200" b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goto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L140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;</a:t>
            </a:r>
            <a:endParaRPr lang="en-US" sz="620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None/>
            </a:pP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if (! (incx == incy &amp;&amp; incx &gt; 0)) </a:t>
            </a:r>
            <a:r>
              <a:rPr lang="en-US" sz="6200" b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goto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L70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2">
              <a:buNone/>
            </a:pPr>
            <a:endParaRPr lang="en-US" sz="620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None/>
            </a:pP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nsteps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= n *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incx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2">
              <a:buNone/>
            </a:pP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sz="620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None/>
            </a:pP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if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(dflag &lt; 0.)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{ </a:t>
            </a:r>
            <a:endParaRPr lang="en-US" sz="6200" smtClean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lvl="2">
              <a:buNone/>
            </a:pPr>
            <a:r>
              <a:rPr lang="en-US" sz="6200" b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	goto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L50;</a:t>
            </a:r>
          </a:p>
          <a:p>
            <a:pPr lvl="2">
              <a:buNone/>
            </a:pP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}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else if (dflag == 0) { </a:t>
            </a:r>
          </a:p>
          <a:p>
            <a:pPr lvl="2">
              <a:buNone/>
            </a:pPr>
            <a:r>
              <a:rPr lang="en-US" sz="6200" b="1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	goto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L10</a:t>
            </a: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;</a:t>
            </a:r>
          </a:p>
          <a:p>
            <a:pPr lvl="2">
              <a:buNone/>
            </a:pPr>
            <a:r>
              <a:rPr lang="en-US" sz="6200" smtClean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}</a:t>
            </a:r>
          </a:p>
          <a:p>
            <a:pPr>
              <a:buNone/>
            </a:pPr>
            <a:endParaRPr lang="en-US" sz="400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4000" b="1" smtClean="0">
                <a:latin typeface="Arial" pitchFamily="34" charset="0"/>
                <a:cs typeface="Arial" pitchFamily="34" charset="0"/>
              </a:rPr>
              <a:t>For my students: See... Real men (M/F) put their { at the EOL   </a:t>
            </a:r>
            <a:r>
              <a:rPr lang="en-US" sz="4000" b="1" smtClean="0">
                <a:latin typeface="Arial" pitchFamily="34" charset="0"/>
                <a:cs typeface="Arial" pitchFamily="34" charset="0"/>
                <a:sym typeface="Wingdings" pitchFamily="2" charset="2"/>
              </a:rPr>
              <a:t></a:t>
            </a:r>
            <a:endParaRPr lang="en-US" sz="4000" b="1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mtClean="0"/>
          </a:p>
        </p:txBody>
      </p:sp>
      <p:pic>
        <p:nvPicPr>
          <p:cNvPr id="29698" name="Picture 2" descr="Image result for crystal bal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4221088"/>
            <a:ext cx="3468307" cy="23042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620688"/>
          </a:xfrm>
        </p:spPr>
        <p:txBody>
          <a:bodyPr>
            <a:noAutofit/>
          </a:bodyPr>
          <a:lstStyle/>
          <a:p>
            <a:r>
              <a:rPr lang="en-US" sz="4000" smtClean="0"/>
              <a:t>The value of </a:t>
            </a:r>
            <a:r>
              <a:rPr lang="en-US" sz="4000" smtClean="0">
                <a:solidFill>
                  <a:srgbClr val="FF0000"/>
                </a:solidFill>
              </a:rPr>
              <a:t>proven technology</a:t>
            </a:r>
            <a:endParaRPr lang="en-US" sz="4000">
              <a:solidFill>
                <a:srgbClr val="FF0000"/>
              </a:solidFill>
            </a:endParaRPr>
          </a:p>
        </p:txBody>
      </p:sp>
      <p:pic>
        <p:nvPicPr>
          <p:cNvPr id="28674" name="Picture 2" descr="http://techgenmag.com/wp-content/uploads/2014/07/RS25rocket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2348880"/>
            <a:ext cx="4006459" cy="26642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</p:pic>
      <p:sp>
        <p:nvSpPr>
          <p:cNvPr id="5" name="Tekstvak 4"/>
          <p:cNvSpPr txBox="1"/>
          <p:nvPr/>
        </p:nvSpPr>
        <p:spPr>
          <a:xfrm>
            <a:off x="395536" y="692696"/>
            <a:ext cx="8748464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smtClean="0"/>
              <a:t>In </a:t>
            </a:r>
            <a:r>
              <a:rPr lang="en-US" sz="2400" smtClean="0"/>
              <a:t>20 </a:t>
            </a:r>
            <a:r>
              <a:rPr lang="en-US" sz="2400" smtClean="0"/>
              <a:t>years </a:t>
            </a:r>
            <a:r>
              <a:rPr lang="en-US" sz="2400" smtClean="0"/>
              <a:t>NASA hopes to send people to Mars</a:t>
            </a:r>
          </a:p>
          <a:p>
            <a:pPr>
              <a:buNone/>
            </a:pPr>
            <a:r>
              <a:rPr lang="en-US" sz="2400" smtClean="0"/>
              <a:t>They plan to use the engine on the left, by then aged </a:t>
            </a:r>
            <a:r>
              <a:rPr lang="en-US" sz="2400" smtClean="0">
                <a:solidFill>
                  <a:srgbClr val="FF0000"/>
                </a:solidFill>
              </a:rPr>
              <a:t>70+ years</a:t>
            </a:r>
            <a:r>
              <a:rPr lang="en-US" sz="2400" smtClean="0"/>
              <a:t>...</a:t>
            </a:r>
          </a:p>
          <a:p>
            <a:r>
              <a:rPr lang="en-US" sz="2400" smtClean="0"/>
              <a:t>It’s </a:t>
            </a:r>
            <a:r>
              <a:rPr lang="en-US" sz="2400" smtClean="0"/>
              <a:t>the </a:t>
            </a:r>
            <a:r>
              <a:rPr lang="en-US" sz="2400" smtClean="0"/>
              <a:t>type </a:t>
            </a:r>
            <a:r>
              <a:rPr lang="en-US" sz="2400" smtClean="0"/>
              <a:t>that took </a:t>
            </a:r>
            <a:r>
              <a:rPr lang="en-US" sz="2400" smtClean="0"/>
              <a:t>Armstrong </a:t>
            </a:r>
            <a:r>
              <a:rPr lang="en-US" sz="2400" smtClean="0"/>
              <a:t>and Aldrin to </a:t>
            </a:r>
            <a:r>
              <a:rPr lang="en-US" sz="2400" smtClean="0"/>
              <a:t>the </a:t>
            </a:r>
            <a:r>
              <a:rPr lang="en-US" sz="2400" smtClean="0"/>
              <a:t>moon </a:t>
            </a:r>
            <a:r>
              <a:rPr lang="en-US" sz="2400" smtClean="0"/>
              <a:t>in 1969</a:t>
            </a:r>
          </a:p>
          <a:p>
            <a:pPr>
              <a:buNone/>
            </a:pPr>
            <a:r>
              <a:rPr lang="en-US" sz="3200" b="1" i="1" smtClean="0">
                <a:solidFill>
                  <a:srgbClr val="0070C0"/>
                </a:solidFill>
                <a:latin typeface="French Script MT" pitchFamily="66" charset="0"/>
              </a:rPr>
              <a:t>What did a car look like in 70 years ago, so in 1948?</a:t>
            </a:r>
          </a:p>
          <a:p>
            <a:pPr>
              <a:buNone/>
            </a:pPr>
            <a:endParaRPr lang="en-US" sz="2400" smtClean="0"/>
          </a:p>
          <a:p>
            <a:endParaRPr lang="en-US"/>
          </a:p>
        </p:txBody>
      </p:sp>
      <p:sp>
        <p:nvSpPr>
          <p:cNvPr id="6" name="Tekstvak 5"/>
          <p:cNvSpPr txBox="1"/>
          <p:nvPr/>
        </p:nvSpPr>
        <p:spPr>
          <a:xfrm>
            <a:off x="467544" y="5877272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smtClean="0"/>
              <a:t>On the right: 4k RAM available to NASA in prep of Appollo project, your mobile holds 10,000,000 times more...</a:t>
            </a:r>
            <a:endParaRPr lang="en-US"/>
          </a:p>
        </p:txBody>
      </p:sp>
      <p:pic>
        <p:nvPicPr>
          <p:cNvPr id="28676" name="Picture 4" descr="Image result for ibm 4k ram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3068960"/>
            <a:ext cx="3572053" cy="26745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708688"/>
          </a:xfrm>
        </p:spPr>
        <p:txBody>
          <a:bodyPr>
            <a:noAutofit/>
          </a:bodyPr>
          <a:lstStyle/>
          <a:p>
            <a:r>
              <a:rPr lang="en-US" sz="4400" smtClean="0"/>
              <a:t>To anyone considering dipping a toe</a:t>
            </a:r>
            <a:endParaRPr lang="en-US" sz="440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79512" y="620688"/>
            <a:ext cx="8784976" cy="4608512"/>
          </a:xfrm>
        </p:spPr>
        <p:txBody>
          <a:bodyPr>
            <a:normAutofit lnSpcReduction="10000"/>
          </a:bodyPr>
          <a:lstStyle/>
          <a:p>
            <a:r>
              <a:rPr lang="en-US" sz="2400" smtClean="0"/>
              <a:t>It took </a:t>
            </a:r>
            <a:r>
              <a:rPr lang="en-US" sz="2400" smtClean="0">
                <a:solidFill>
                  <a:srgbClr val="FF0000"/>
                </a:solidFill>
              </a:rPr>
              <a:t>30+</a:t>
            </a:r>
            <a:r>
              <a:rPr lang="en-US" sz="2400" smtClean="0"/>
              <a:t> years to fullfill </a:t>
            </a:r>
            <a:r>
              <a:rPr lang="en-US" sz="2400" smtClean="0">
                <a:solidFill>
                  <a:srgbClr val="FF0000"/>
                </a:solidFill>
              </a:rPr>
              <a:t>C++</a:t>
            </a:r>
            <a:r>
              <a:rPr lang="en-US" sz="2400" smtClean="0"/>
              <a:t>’s of availability of seamlessly integrated high quality libs</a:t>
            </a:r>
          </a:p>
          <a:p>
            <a:pPr>
              <a:buNone/>
            </a:pPr>
            <a:endParaRPr lang="en-US" sz="2400" smtClean="0"/>
          </a:p>
          <a:p>
            <a:r>
              <a:rPr lang="en-US" sz="2400" smtClean="0"/>
              <a:t>It took </a:t>
            </a:r>
            <a:r>
              <a:rPr lang="en-US" sz="2400" smtClean="0">
                <a:solidFill>
                  <a:srgbClr val="FF0000"/>
                </a:solidFill>
              </a:rPr>
              <a:t>20+</a:t>
            </a:r>
            <a:r>
              <a:rPr lang="en-US" sz="2400" smtClean="0"/>
              <a:t> years to solve </a:t>
            </a:r>
            <a:r>
              <a:rPr lang="en-US" sz="2400" smtClean="0">
                <a:solidFill>
                  <a:srgbClr val="FF0000"/>
                </a:solidFill>
              </a:rPr>
              <a:t>C++</a:t>
            </a:r>
            <a:r>
              <a:rPr lang="en-US" sz="2400" smtClean="0"/>
              <a:t>’s problem of returning local tensors when overloading operators, but now we have move semantics</a:t>
            </a:r>
          </a:p>
          <a:p>
            <a:endParaRPr lang="en-US" sz="2400" smtClean="0"/>
          </a:p>
          <a:p>
            <a:r>
              <a:rPr lang="en-US" sz="2400" smtClean="0"/>
              <a:t>It took </a:t>
            </a:r>
            <a:r>
              <a:rPr lang="en-US" sz="2400" smtClean="0">
                <a:solidFill>
                  <a:srgbClr val="FF0000"/>
                </a:solidFill>
              </a:rPr>
              <a:t>10+</a:t>
            </a:r>
            <a:r>
              <a:rPr lang="en-US" sz="2400" smtClean="0"/>
              <a:t> years to run </a:t>
            </a:r>
            <a:r>
              <a:rPr lang="en-US" sz="2400" smtClean="0">
                <a:solidFill>
                  <a:srgbClr val="FF0000"/>
                </a:solidFill>
              </a:rPr>
              <a:t>C++</a:t>
            </a:r>
            <a:r>
              <a:rPr lang="en-US" sz="2400" smtClean="0"/>
              <a:t> in the browser, but now EmScriptEn does the trick</a:t>
            </a:r>
          </a:p>
          <a:p>
            <a:endParaRPr lang="en-US" sz="2400" smtClean="0"/>
          </a:p>
          <a:p>
            <a:r>
              <a:rPr lang="en-US" sz="2400" smtClean="0"/>
              <a:t>It’ll take </a:t>
            </a:r>
            <a:r>
              <a:rPr lang="en-US" sz="2400" smtClean="0">
                <a:solidFill>
                  <a:srgbClr val="FF0000"/>
                </a:solidFill>
              </a:rPr>
              <a:t>0+</a:t>
            </a:r>
            <a:r>
              <a:rPr lang="en-US" sz="2400" smtClean="0"/>
              <a:t> years to dive into </a:t>
            </a:r>
            <a:r>
              <a:rPr lang="en-US" sz="2400" smtClean="0">
                <a:solidFill>
                  <a:srgbClr val="FF0000"/>
                </a:solidFill>
              </a:rPr>
              <a:t>C++</a:t>
            </a:r>
            <a:r>
              <a:rPr lang="en-US" sz="2400" smtClean="0"/>
              <a:t> rightnow and gradually discover that the water temperature is actually great...</a:t>
            </a:r>
          </a:p>
          <a:p>
            <a:pPr>
              <a:buNone/>
            </a:pPr>
            <a:endParaRPr lang="en-US"/>
          </a:p>
        </p:txBody>
      </p:sp>
      <p:pic>
        <p:nvPicPr>
          <p:cNvPr id="32770" name="Picture 2" descr="Image result for dipping a toe into the wa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229200"/>
            <a:ext cx="2719121" cy="1484784"/>
          </a:xfrm>
          <a:prstGeom prst="rect">
            <a:avLst/>
          </a:prstGeom>
          <a:noFill/>
        </p:spPr>
      </p:pic>
      <p:sp>
        <p:nvSpPr>
          <p:cNvPr id="5" name="Tekstvak 4"/>
          <p:cNvSpPr txBox="1"/>
          <p:nvPr/>
        </p:nvSpPr>
        <p:spPr>
          <a:xfrm>
            <a:off x="2819848" y="5796160"/>
            <a:ext cx="6444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mtClean="0"/>
              <a:t>In </a:t>
            </a:r>
            <a:r>
              <a:rPr lang="en-US" sz="2400" b="1" smtClean="0">
                <a:solidFill>
                  <a:srgbClr val="FF0000"/>
                </a:solidFill>
              </a:rPr>
              <a:t>20+</a:t>
            </a:r>
            <a:r>
              <a:rPr lang="en-US" sz="2400" b="1" smtClean="0"/>
              <a:t> years, it’ll be </a:t>
            </a:r>
            <a:r>
              <a:rPr lang="en-US" sz="2400" b="1" smtClean="0">
                <a:solidFill>
                  <a:srgbClr val="FF0000"/>
                </a:solidFill>
              </a:rPr>
              <a:t>C++</a:t>
            </a:r>
            <a:r>
              <a:rPr lang="en-US" sz="2400" b="1" smtClean="0"/>
              <a:t> flying man to Mars</a:t>
            </a:r>
            <a:endParaRPr 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room">
  <a:themeElements>
    <a:clrScheme name="Stroom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Stroom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Stroom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1045</TotalTime>
  <Words>1292</Words>
  <Application>Microsoft Office PowerPoint</Application>
  <PresentationFormat>Diavoorstelling (4:3)</PresentationFormat>
  <Paragraphs>228</Paragraphs>
  <Slides>20</Slides>
  <Notes>0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20</vt:i4>
      </vt:variant>
    </vt:vector>
  </HeadingPairs>
  <TitlesOfParts>
    <vt:vector size="21" baseType="lpstr">
      <vt:lpstr>Stroom</vt:lpstr>
      <vt:lpstr>Dia 1</vt:lpstr>
      <vt:lpstr>Company: Jason Geosystems</vt:lpstr>
      <vt:lpstr>Software</vt:lpstr>
      <vt:lpstr>Problems</vt:lpstr>
      <vt:lpstr>Dia 5</vt:lpstr>
      <vt:lpstr>HOW?</vt:lpstr>
      <vt:lpstr>DQI (Design Quality Improvement)</vt:lpstr>
      <vt:lpstr>So like this:</vt:lpstr>
      <vt:lpstr>If it ain’t broke, don’t fix it</vt:lpstr>
      <vt:lpstr>App structure reflects org structure</vt:lpstr>
      <vt:lpstr>During projects (20% of budget hours)</vt:lpstr>
      <vt:lpstr>DQI during projects: pitfalls</vt:lpstr>
      <vt:lpstr>After a release (10% of budget hours)</vt:lpstr>
      <vt:lpstr>DQI after release: pitfalls</vt:lpstr>
      <vt:lpstr>Signs of success</vt:lpstr>
      <vt:lpstr>Some lessons learned unwillingly</vt:lpstr>
      <vt:lpstr>To aleviate the need for C++ devs we have to:</vt:lpstr>
      <vt:lpstr>Predicting is hard, especially the future! Still...</vt:lpstr>
      <vt:lpstr>The value of proven technology</vt:lpstr>
      <vt:lpstr>To anyone considering dipping a toe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Refactoring the Geoscience Workbench</dc:title>
  <dc:creator>jacques</dc:creator>
  <cp:lastModifiedBy>info@geatec.com</cp:lastModifiedBy>
  <cp:revision>124</cp:revision>
  <dcterms:created xsi:type="dcterms:W3CDTF">2018-01-19T09:09:12Z</dcterms:created>
  <dcterms:modified xsi:type="dcterms:W3CDTF">2018-01-20T16:12:53Z</dcterms:modified>
</cp:coreProperties>
</file>